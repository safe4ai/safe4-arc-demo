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ENCODE X ARC · AGENTIC ECONOMY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" y="1069848"/>
            <a:ext cx="2423160" cy="310896"/>
          </a:xfrm>
          <a:prstGeom prst="roundRect">
            <a:avLst/>
          </a:prstGeom>
          <a:solidFill>
            <a:srgbClr val="8A5A00"/>
          </a:solidFill>
          <a:ln w="1270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0789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PAYMENT SECURITY / ARC TESTNET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664208"/>
            <a:ext cx="7955279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00" b="1">
                <a:solidFill>
                  <a:srgbClr val="111827"/>
                </a:solidFill>
                <a:latin typeface="Arial"/>
              </a:rPr>
              <a:t>THE PAYMENT
FIREWALL FOR
AI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4535424"/>
            <a:ext cx="6675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The security layer between an agent deciding to spend—and the money moving.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188720"/>
            <a:ext cx="2834640" cy="4251960"/>
          </a:xfrm>
          <a:prstGeom prst="rect">
            <a:avLst/>
          </a:prstGeom>
          <a:solidFill>
            <a:srgbClr val="F3F4F6"/>
          </a:solidFill>
          <a:ln w="1651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161848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A5A00"/>
                </a:solidFill>
                <a:latin typeface="Arial"/>
              </a:rP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176272"/>
            <a:ext cx="21031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0" b="1">
                <a:solidFill>
                  <a:srgbClr val="111827"/>
                </a:solidFill>
                <a:latin typeface="Arial"/>
              </a:rPr>
              <a:t>04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51392" y="3712463"/>
            <a:ext cx="2103120" cy="0"/>
          </a:xfrm>
          <a:prstGeom prst="line">
            <a:avLst/>
          </a:prstGeom>
          <a:ln w="1270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51392" y="3968496"/>
            <a:ext cx="210312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B5563"/>
                </a:solidFill>
                <a:latin typeface="Arial"/>
              </a:rPr>
              <a:t>POLICY
PROOF
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THE SECURITY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THE MISSING CONTROL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1031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Arial"/>
              </a:rPr>
              <a:t>Documented wallet controls do not evaluate the task-to-purchase match demonstrated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743200"/>
            <a:ext cx="3429000" cy="242316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92608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75985"/>
                </a:solidFill>
                <a:latin typeface="Arial"/>
              </a:rPr>
              <a:t>01 /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7355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AGENT CHOOSES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886200"/>
            <a:ext cx="29900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A model interprets a task, selects a service, and proposes a payment.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2743200"/>
            <a:ext cx="3429000" cy="242316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92608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Arial"/>
              </a:rPr>
              <a:t>02 /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27355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CONTEXT DISAPPEARS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886200"/>
            <a:ext cx="29900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Amount and address survive. The assigned task, purchase purpose, and autonomy scope often do not.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9327" y="2743200"/>
            <a:ext cx="3429000" cy="242316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8784" y="292608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03 /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327355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MONEY MOVES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886200"/>
            <a:ext cx="29900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A valid wallet action can still be the wrong action for the job.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3959352"/>
            <a:ext cx="512064" cy="0"/>
          </a:xfrm>
          <a:prstGeom prst="line">
            <a:avLst/>
          </a:prstGeom>
          <a:ln w="25400">
            <a:solidFill>
              <a:srgbClr val="075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08975" y="3959352"/>
            <a:ext cx="512065" cy="0"/>
          </a:xfrm>
          <a:prstGeom prst="line">
            <a:avLst/>
          </a:prstGeom>
          <a:ln w="2540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39312" y="5449824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8A5A00"/>
                </a:solidFill>
                <a:latin typeface="Arial"/>
              </a:rPr>
              <a:t>SAFE4 INSERTS AN ENFORCEABLE CHECKPOINT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MARKET TIMING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97169"/>
                </a:solidFill>
                <a:latin typeface="Arial"/>
              </a:rPr>
              <a:t>Sources: x402.org · cloud.google.com/blog/products/ai-machine-learning/announcing-agents-to-payments-ap2-protocol · developers.circle.com/agent-stack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MARKET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WHY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1031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Arial"/>
              </a:rPr>
              <a:t>Agent-native payment rails are arriving faster than agent-native security controls.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2834640"/>
            <a:ext cx="3401568" cy="102412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971800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75985"/>
                </a:solidFill>
                <a:latin typeface="Arial"/>
              </a:rPr>
              <a:t>x402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3456432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HTTP-NATIVE PAYMENT REQUIREMENTS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834640"/>
            <a:ext cx="3401568" cy="102412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971800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8A5A00"/>
                </a:solidFill>
                <a:latin typeface="Arial"/>
              </a:rPr>
              <a:t>AP2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456432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MANDATES AND AGENT PAYMENT INTENT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75904" y="2834640"/>
            <a:ext cx="3401568" cy="102412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2971800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47857"/>
                </a:solidFill>
                <a:latin typeface="Arial"/>
              </a:rPr>
              <a:t>USDC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456432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PROGRAMMABLE SETTLEMENT ASSET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4224528"/>
            <a:ext cx="11375136" cy="1143000"/>
          </a:xfrm>
          <a:prstGeom prst="rect">
            <a:avLst/>
          </a:prstGeom>
          <a:solidFill>
            <a:srgbClr val="E5E7EB"/>
          </a:solidFill>
          <a:ln w="1270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50799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rial"/>
              </a:rPr>
              <a:t>New rails make autonomous commerce possible.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507992"/>
            <a:ext cx="5779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A5A00"/>
                </a:solidFill>
                <a:latin typeface="Arial"/>
              </a:rPr>
              <a:t>Safe4 makes the payment decision inspectable before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POLICY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DECISION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WHAT SAFE4 EVALUATES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1031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Arial"/>
              </a:rPr>
              <a:t>One authorization decision, multiple independent checks, one durable reason trail.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606040"/>
            <a:ext cx="3401568" cy="129844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77063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752344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TASK ↔ 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172968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Does the purpose match the submitted task context?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3" y="2606040"/>
            <a:ext cx="3401568" cy="129844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277063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752344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AMOUNT +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3172968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Is it within transaction, daily, and velocity limits?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2606040"/>
            <a:ext cx="3401568" cy="129844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277063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75985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752344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COUNTERPARTY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3172968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Is the vendor or address blocked or otherwise risky?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4206240"/>
            <a:ext cx="3401568" cy="129844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4370831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4352544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AUTONOMY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4773168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Is the agent allowed to make this class of decision?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9663" y="4206240"/>
            <a:ext cx="3401568" cy="129844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4370831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4352544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PAYMENT 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4773168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Does the x402 receipt match amount, currency, and request?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36992" y="4206240"/>
            <a:ext cx="3401568" cy="1298448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1" y="4370831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4352544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AUDITABILITY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4773168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Can the decision and evidence be reconstructed later?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97169"/>
                </a:solidFill>
                <a:latin typeface="Arial"/>
              </a:rPr>
              <a:t>Observed Arc Testnet path: Safe4 ALLOW precedes Circle Agent Wallet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OBSERVED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SAFE4 AUTHORIZATION + CIRCLE AGENT WALLET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1031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Arial"/>
              </a:rPr>
              <a:t>Fresh 0.01 testnet USDC settlement is RPC-verified through the ERC-4337 receipt.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971800"/>
            <a:ext cx="1755648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363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4290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77647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Task + budget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57984" y="3566160"/>
            <a:ext cx="402336" cy="0"/>
          </a:xfrm>
          <a:prstGeom prst="line">
            <a:avLst/>
          </a:prstGeom>
          <a:ln w="2286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596896" y="2971800"/>
            <a:ext cx="1755648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1363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290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SAFE4 402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7647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Scaffolded challenge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70831" y="3566160"/>
            <a:ext cx="402337" cy="0"/>
          </a:xfrm>
          <a:prstGeom prst="line">
            <a:avLst/>
          </a:prstGeom>
          <a:ln w="2286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09744" y="2971800"/>
            <a:ext cx="1755648" cy="1188720"/>
          </a:xfrm>
          <a:prstGeom prst="rect">
            <a:avLst/>
          </a:prstGeom>
          <a:solidFill>
            <a:srgbClr val="F3F4F6"/>
          </a:solidFill>
          <a:ln w="1778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31363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4290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SAFE4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377647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Policy + purpose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79" y="3566160"/>
            <a:ext cx="402337" cy="0"/>
          </a:xfrm>
          <a:prstGeom prst="line">
            <a:avLst/>
          </a:prstGeom>
          <a:ln w="2286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022592" y="2971800"/>
            <a:ext cx="1755648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68896" y="31363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34290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CIRCLE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377647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Agent Wallet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96528" y="3566160"/>
            <a:ext cx="402335" cy="0"/>
          </a:xfrm>
          <a:prstGeom prst="line">
            <a:avLst/>
          </a:prstGeom>
          <a:ln w="2286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235440" y="2971800"/>
            <a:ext cx="1755648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31363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34290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rial"/>
              </a:rPr>
              <a:t>ARC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1744" y="377647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USDC settlement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526280"/>
            <a:ext cx="2240280" cy="676656"/>
          </a:xfrm>
          <a:prstGeom prst="rect">
            <a:avLst/>
          </a:prstGeom>
          <a:solidFill>
            <a:srgbClr val="E5E7EB"/>
          </a:solidFill>
          <a:ln w="1270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4681728"/>
            <a:ext cx="2029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47857"/>
                </a:solidFill>
                <a:latin typeface="Arial"/>
              </a:rPr>
              <a:t>ALLOW → REPLAY VERIFY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14032" y="4526280"/>
            <a:ext cx="2468880" cy="676656"/>
          </a:xfrm>
          <a:prstGeom prst="rect">
            <a:avLst/>
          </a:prstGeom>
          <a:solidFill>
            <a:srgbClr val="E5E7EB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8896" y="4681728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B91C1C"/>
                </a:solidFill>
                <a:latin typeface="Arial"/>
              </a:rPr>
              <a:t>DENY → DEMO EXECUTOR SKIPPED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OBSERVED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97169"/>
                </a:solidFill>
                <a:latin typeface="Arial"/>
              </a:rPr>
              <a:t>Arcscan: testnet.arcscan.app/tx/0x648ef1…7752c · ERC-4337 verifier: scripts/verify_arc_settlement.py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OBSERVED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REAL DEMO. REAL REASONS. REAL CHAIN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487168"/>
            <a:ext cx="5413248" cy="2395728"/>
          </a:xfrm>
          <a:prstGeom prst="rect">
            <a:avLst/>
          </a:prstGeom>
          <a:solidFill>
            <a:srgbClr val="F3F4F6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724912"/>
            <a:ext cx="1078992" cy="310896"/>
          </a:xfrm>
          <a:prstGeom prst="roundRect">
            <a:avLst/>
          </a:prstGeom>
          <a:solidFill>
            <a:srgbClr val="047857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340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ALLOWED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1868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rial"/>
              </a:rPr>
              <a:t>TASK_PURCHASE_MATCH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30168"/>
            <a:ext cx="4617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  <a:latin typeface="Arial"/>
              </a:rPr>
              <a:t>Competitor-pricing research matches the assigned task and allowed category.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70832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47857"/>
                </a:solidFill>
                <a:latin typeface="Arial"/>
              </a:rPr>
              <a:t>CIRCLE TX · RPC-VERIFIED REPLAY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487168"/>
            <a:ext cx="5413248" cy="2395728"/>
          </a:xfrm>
          <a:prstGeom prst="rect">
            <a:avLst/>
          </a:prstGeom>
          <a:solidFill>
            <a:srgbClr val="F3F4F6"/>
          </a:solidFill>
          <a:ln w="1778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01968" y="2724912"/>
            <a:ext cx="1078992" cy="310896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73405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DENIED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21868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rial"/>
              </a:rPr>
              <a:t>PURCHASE_PURPOSE_MISMATCH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630168"/>
            <a:ext cx="4572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  <a:latin typeface="Arial"/>
              </a:rPr>
              <a:t>Same amount, category, and counterparty. Gift-card purpose does not match the research task.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370832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B91C1C"/>
                </a:solidFill>
                <a:latin typeface="Arial"/>
              </a:rPr>
              <a:t>DEMO ORCHESTRATOR DID NOT INVOKE EXECUTOR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5257800"/>
            <a:ext cx="11356848" cy="6400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45896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>
                <a:solidFill>
                  <a:srgbClr val="8A5A00"/>
                </a:solidFill>
                <a:latin typeface="Arial"/>
              </a:rPr>
              <a:t>RPC-VERIFIED CIRCLE AGENT WALLET 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8064" y="5404104"/>
            <a:ext cx="83393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11827"/>
                </a:solidFill>
                <a:latin typeface="Consolas"/>
              </a:rPr>
              <a:t>0x648ef14e4da7c6bfecce0017d19280ed51fb12635bea94712de926d9f967752c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STACK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97169"/>
                </a:solidFill>
                <a:latin typeface="Arial"/>
              </a:rPr>
              <a:t>Sources: docs.arc.io · developers.circle.com/agent-stack · developers.circle.com/agent-stack/agent-wallets/supported-blockchains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INFRASTRUCTURE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WHY ARC, USDC, AND CIRCLE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560320"/>
            <a:ext cx="3429000" cy="2798064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74320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ARC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09067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TWO EXACT VERIFIER PATHS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2990088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Direct ERC-20: token + calldata. Agent Wallet: EntryPoint + successful UserOperation + exact transfer event.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2560320"/>
            <a:ext cx="3429000" cy="2798064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274320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Arial"/>
              </a:rPr>
              <a:t>USDC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09067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ONE BALANCE, TWO PRECISIONS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703320"/>
            <a:ext cx="2990088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Arc native RPC values use 18 decimals; the ERC-20 interface uses 6. Safe4 normalizes the exact 0.01 amount.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57616" y="2560320"/>
            <a:ext cx="3429000" cy="2798064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274320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75985"/>
                </a:solidFill>
                <a:latin typeface="Arial"/>
              </a:rPr>
              <a:t>CIRCLE AGENT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09067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AGENT-NATIVE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703320"/>
            <a:ext cx="2990088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An authenticated Agent Wallet settled 0.01 testnet USDC after ALLOW. Safe4 verifies its ERC-4337 receipt.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97169"/>
                </a:solidFill>
                <a:latin typeface="Arial"/>
              </a:rPr>
              <a:t>Circle control descriptions: developers.circle.com/agent-stack/agent-wallets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COMPLEMENTARY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CIRCLE ENFORCES THE FLOOR. SAFE4 ASKS WHETHER THE PAYMENT SHOULD HAPPEN.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560320"/>
            <a:ext cx="11356848" cy="269748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706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7706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75985"/>
                </a:solidFill>
                <a:latin typeface="Arial"/>
              </a:rPr>
              <a:t>CIRCLE AGENT 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27706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136391"/>
            <a:ext cx="1077163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24612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rial"/>
              </a:rPr>
              <a:t>Spending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246120"/>
            <a:ext cx="3182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✓ Native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24612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rial"/>
              </a:rPr>
              <a:t>✓ Additional policy context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3730752"/>
            <a:ext cx="1077163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84048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rial"/>
              </a:rPr>
              <a:t>Address / compliance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3840480"/>
            <a:ext cx="3182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✓ Native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84048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rial"/>
              </a:rPr>
              <a:t>✓ Counterparty + audit context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4325112"/>
            <a:ext cx="1077163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443484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rial"/>
              </a:rPr>
              <a:t>Submitted task ↔ purchase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434840"/>
            <a:ext cx="3182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Documented controls do not evaluate this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443484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5A00"/>
                </a:solidFill>
                <a:latin typeface="Arial"/>
              </a:rPr>
              <a:t>✓ Outcome-changing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522976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Arial"/>
              </a:rPr>
              <a:t>DEMO MOMENT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4" y="5468112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111827"/>
                </a:solidFill>
                <a:latin typeface="Arial"/>
              </a:rPr>
              <a:t>Same amount, category, counterparty. Denied against submitted task context. Trusted binding is roadmap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97169"/>
                </a:solidFill>
                <a:latin typeface="Arial"/>
              </a:rPr>
              <a:t>Team experience is a human-confirmed submission fact; names intentionally omitted until supplied.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BUILT AT THE INTERSECTION OF CYBERSECURITY AND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441448"/>
            <a:ext cx="28346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>
                <a:solidFill>
                  <a:srgbClr val="8A5A00"/>
                </a:solidFill>
                <a:latin typeface="Arial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3822191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rial"/>
              </a:rPr>
              <a:t>COMBINED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41879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IN REGULATED ENVIRONMENTS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468880"/>
            <a:ext cx="3474720" cy="224028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265176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2999232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THREAT-FIRST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3611880"/>
            <a:ext cx="303580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Payment controls, attack surfaces, evidence, and operational resilience.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82127" y="2468880"/>
            <a:ext cx="3474720" cy="224028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265176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Arial"/>
              </a:rP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2999232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RISK-AWARE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3611880"/>
            <a:ext cx="303580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Money movement, governed operations, and decision accountability.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5928" y="5138928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rial"/>
              </a:rPr>
              <a:t>Founder names and biographies will be added only from confirmed source material.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6052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137160"/>
            <a:ext cx="0" cy="6400800"/>
          </a:xfrm>
          <a:prstGeom prst="line">
            <a:avLst/>
          </a:prstGeom>
          <a:ln w="6350">
            <a:solidFill>
              <a:srgbClr val="151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" y="77724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6309360"/>
            <a:ext cx="115214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237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A5A00"/>
                </a:solidFill>
                <a:latin typeface="Arial"/>
              </a:rPr>
              <a:t>SAFE4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PROGRESS + ACCELERATOR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20116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97169"/>
                </a:solidFill>
                <a:latin typeface="Arial"/>
              </a:rPr>
              <a:t>Public repo: github.com/Safe4AI/safe4-arc-demo · evidence current at 28 Jul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96926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5A00"/>
                </a:solidFill>
                <a:latin typeface="Arial"/>
              </a:rP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261872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11827"/>
                </a:solidFill>
                <a:latin typeface="Arial"/>
              </a:rPr>
              <a:t>FROM VERIFIED DEMO TO AGENT-COMMERCE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514600"/>
            <a:ext cx="3429000" cy="260604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69748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Arial"/>
              </a:rPr>
              <a:t>NOW /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04495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HACKATHON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57600"/>
            <a:ext cx="2990088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293-test regression gate. Fresh Circle Agent Wallet settlement on Arc. Unattended allow/deny demo. Public repository.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2514600"/>
            <a:ext cx="3429000" cy="260604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269748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NEXT / HARDEN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04495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TRUSTED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657600"/>
            <a:ext cx="2990088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Bind tasks to principals, remove legacy bypasses, harden the x402 verifier boundary, and complete security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57616" y="2514600"/>
            <a:ext cx="3429000" cy="2606040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269748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75985"/>
                </a:solidFill>
                <a:latin typeface="Arial"/>
              </a:rPr>
              <a:t>AFTER / DISTRIBUTE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044952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rial"/>
              </a:rPr>
              <a:t>AGENT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657600"/>
            <a:ext cx="2990088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Package Safe4 as an x402 service, complete security review, and apply for Circle Agent Marketplace listing.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50468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8A5A00"/>
                </a:solidFill>
                <a:latin typeface="Arial"/>
              </a:rPr>
              <a:t>THE ACCELERATOR UNLOCKS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5440680"/>
            <a:ext cx="8732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rial"/>
              </a:rPr>
              <a:t>design partners · hardened integrations · marketplace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