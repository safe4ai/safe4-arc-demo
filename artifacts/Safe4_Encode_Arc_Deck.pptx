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ENCODE X ARC · AGENTIC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" y="1069848"/>
            <a:ext cx="2423160" cy="310896"/>
          </a:xfrm>
          <a:prstGeom prst="roundRect">
            <a:avLst/>
          </a:prstGeom>
          <a:solidFill>
            <a:srgbClr val="E8FF3F"/>
          </a:solidFill>
          <a:ln w="1270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0789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90B0A"/>
                </a:solidFill>
                <a:latin typeface="Arial"/>
              </a:rPr>
              <a:t>PAYMENT SECURITY / ARC TESTNET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664208"/>
            <a:ext cx="7955279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500" b="1">
                <a:solidFill>
                  <a:srgbClr val="F4F6F0"/>
                </a:solidFill>
                <a:latin typeface="Arial"/>
              </a:rPr>
              <a:t>THE PAYMENT
FIREWALL FOR
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535424"/>
            <a:ext cx="6675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99A39A"/>
                </a:solidFill>
                <a:latin typeface="Arial"/>
              </a:rPr>
              <a:t>The security layer between an agent deciding to spend—and the money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188720"/>
            <a:ext cx="2834640" cy="4251960"/>
          </a:xfrm>
          <a:prstGeom prst="rect">
            <a:avLst/>
          </a:prstGeom>
          <a:solidFill>
            <a:srgbClr val="111512"/>
          </a:solidFill>
          <a:ln w="1651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1392" y="161848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FF3F"/>
                </a:solidFill>
                <a:latin typeface="Arial"/>
              </a:rPr>
              <a:t>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176272"/>
            <a:ext cx="2103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0" b="1">
                <a:solidFill>
                  <a:srgbClr val="F4F6F0"/>
                </a:solidFill>
                <a:latin typeface="Arial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51392" y="3712463"/>
            <a:ext cx="2103120" cy="0"/>
          </a:xfrm>
          <a:prstGeom prst="line">
            <a:avLst/>
          </a:prstGeom>
          <a:ln w="1270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1392" y="3968496"/>
            <a:ext cx="21031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9A39A"/>
                </a:solidFill>
                <a:latin typeface="Arial"/>
              </a:rPr>
              <a:t>POLICY
PROOF
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THE SECURITY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THE MISSING CONTROL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Documented wallet controls do not evaluate the task-to-purchase match demonstrated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743200"/>
            <a:ext cx="3429000" cy="242316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01 /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AGENT CHOOSES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 model interprets a task, selects a service, and proposes a payment.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2743200"/>
            <a:ext cx="3429000" cy="242316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7A68"/>
                </a:solidFill>
                <a:latin typeface="Arial"/>
              </a:rPr>
              <a:t>02 /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CONTEXT DISAPPEARS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Amount and address survive. The assigned task, purchase purpose, and autonomy scope often do not.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7" y="2743200"/>
            <a:ext cx="3429000" cy="242316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8784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03 / EXECUTION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MONEY MOVES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 valid wallet action can still be the wrong action for the job.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3959352"/>
            <a:ext cx="512064" cy="0"/>
          </a:xfrm>
          <a:prstGeom prst="line">
            <a:avLst/>
          </a:prstGeom>
          <a:ln w="25400">
            <a:solidFill>
              <a:srgbClr val="7FE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08975" y="3959352"/>
            <a:ext cx="512065" cy="0"/>
          </a:xfrm>
          <a:prstGeom prst="line">
            <a:avLst/>
          </a:prstGeom>
          <a:ln w="2540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39312" y="5449824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E8FF3F"/>
                </a:solidFill>
                <a:latin typeface="Arial"/>
              </a:rPr>
              <a:t>SAFE4 INSERTS AN ENFORCEABLE CHECKPOINT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MARKET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x402.org · cloud.google.com/blog/products/ai-machine-learning/announcing-agents-to-payments-ap2-protocol · developers.circle.com/agent-stack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MARKET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WHY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Agent-native payment rails are arriving faster than agent-native security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834640"/>
            <a:ext cx="3401568" cy="102412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7FE8FF"/>
                </a:solidFill>
                <a:latin typeface="Arial"/>
              </a:rPr>
              <a:t>x402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HTTP-NATIVE PAYMENT REQUIREMENTS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834640"/>
            <a:ext cx="3401568" cy="102412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E8FF3F"/>
                </a:solidFill>
                <a:latin typeface="Arial"/>
              </a:rPr>
              <a:t>AP2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MANDATES AND AGENT PAYMENT INTENT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2834640"/>
            <a:ext cx="3401568" cy="102412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70F6A5"/>
                </a:solidFill>
                <a:latin typeface="Arial"/>
              </a:rPr>
              <a:t>USDC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PROGRAMMABLE SETTLEMENT ASSET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224528"/>
            <a:ext cx="11375136" cy="1143000"/>
          </a:xfrm>
          <a:prstGeom prst="rect">
            <a:avLst/>
          </a:prstGeom>
          <a:solidFill>
            <a:srgbClr val="171C18"/>
          </a:solidFill>
          <a:ln w="1270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50799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0"/>
                </a:solidFill>
                <a:latin typeface="Arial"/>
              </a:rPr>
              <a:t>New rails make autonomous commerce possible.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07992"/>
            <a:ext cx="57790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8FF3F"/>
                </a:solidFill>
                <a:latin typeface="Arial"/>
              </a:rPr>
              <a:t>Safe4 makes the payment decision inspectable before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POLICY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DECISION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WHAT SAFE4 EVALUATES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One authorization decision, multiple independent checks, one durable reason trail.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6060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TASK ↔ PURCHASE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Does the purpose match the submitted task context?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9663" y="26060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AMOUNT +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Is it within transaction, daily, and velocity limits?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36992" y="26060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1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COUNTERPARTY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1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Is the vendor or address blocked or otherwise risky?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42062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6F0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AUTONOMY 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Is the agent allowed to make this class of decision?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42062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52544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PAYMENT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Does the x402 receipt match amount, currency, and request?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36992" y="42062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1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AUDITABILITY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1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Can the decision and evidence be reconstructed later?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Execution path uses Arc Testnet; Circle Agent Wallet live mode requires an authenticated testnet session.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OBSERVED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SAFE4 AUTHORIZATION + RPC-VERIFIED REPLAY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Optional Circle live execution is coded; authenticated end-to-end validation is pending.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Task + budget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57984" y="3566160"/>
            <a:ext cx="402336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596896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X402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Payment required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70831" y="3566160"/>
            <a:ext cx="402337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809744" y="2971800"/>
            <a:ext cx="1755648" cy="1188720"/>
          </a:xfrm>
          <a:prstGeom prst="rect">
            <a:avLst/>
          </a:prstGeom>
          <a:solidFill>
            <a:srgbClr val="111512"/>
          </a:solidFill>
          <a:ln w="1778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SAFE4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Policy + purpose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79" y="3566160"/>
            <a:ext cx="402337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022592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68896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8896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CIRCLE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Agent Wallet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96528" y="3566160"/>
            <a:ext cx="402335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9235440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1744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USDC settlement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526280"/>
            <a:ext cx="2240280" cy="676656"/>
          </a:xfrm>
          <a:prstGeom prst="rect">
            <a:avLst/>
          </a:prstGeom>
          <a:solidFill>
            <a:srgbClr val="171C18"/>
          </a:solidFill>
          <a:ln w="1270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81728" y="468172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70F6A5"/>
                </a:solidFill>
                <a:latin typeface="Arial"/>
              </a:rPr>
              <a:t>ALLOW → REPLAY 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14032" y="4526280"/>
            <a:ext cx="2468880" cy="676656"/>
          </a:xfrm>
          <a:prstGeom prst="rect">
            <a:avLst/>
          </a:prstGeom>
          <a:solidFill>
            <a:srgbClr val="171C18"/>
          </a:solidFill>
          <a:ln w="12700">
            <a:solidFill>
              <a:srgbClr val="FF7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68896" y="4681728"/>
            <a:ext cx="2359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1">
                <a:solidFill>
                  <a:srgbClr val="FF7A68"/>
                </a:solidFill>
                <a:latin typeface="Arial"/>
              </a:rPr>
              <a:t>DENY → DEMO EXECUTOR SKIPPED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OBSERVED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Arcscan: testnet.arcscan.app/tx/0x24e959…44a7a · verifier: scripts/verify_arc_settlement.py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OBSERVED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REAL DEMO. REAL REASONS. REAL CHAIN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487168"/>
            <a:ext cx="5413248" cy="2395728"/>
          </a:xfrm>
          <a:prstGeom prst="rect">
            <a:avLst/>
          </a:prstGeom>
          <a:solidFill>
            <a:srgbClr val="111512"/>
          </a:solidFill>
          <a:ln w="17780">
            <a:solidFill>
              <a:srgbClr val="70F6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724912"/>
            <a:ext cx="1078992" cy="310896"/>
          </a:xfrm>
          <a:prstGeom prst="roundRect">
            <a:avLst/>
          </a:prstGeom>
          <a:solidFill>
            <a:srgbClr val="70F6A5"/>
          </a:solidFill>
          <a:ln w="12700">
            <a:solidFill>
              <a:srgbClr val="70F6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90B0A"/>
                </a:solidFill>
                <a:latin typeface="Arial"/>
              </a:rPr>
              <a:t>ALLOWED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0"/>
                </a:solidFill>
                <a:latin typeface="Arial"/>
              </a:rPr>
              <a:t>TASK_PURCHASE_MATCH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30168"/>
            <a:ext cx="4617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9A39A"/>
                </a:solidFill>
                <a:latin typeface="Arial"/>
              </a:rPr>
              <a:t>Competitor-pricing research matches the assigned task and allowed category.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70F6A5"/>
                </a:solidFill>
                <a:latin typeface="Arial"/>
              </a:rPr>
              <a:t>HISTORICAL REPLAY · NOT BROADCAST BY DEMO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487168"/>
            <a:ext cx="5413248" cy="2395728"/>
          </a:xfrm>
          <a:prstGeom prst="rect">
            <a:avLst/>
          </a:prstGeom>
          <a:solidFill>
            <a:srgbClr val="111512"/>
          </a:solidFill>
          <a:ln w="17780">
            <a:solidFill>
              <a:srgbClr val="FF7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1968" y="2724912"/>
            <a:ext cx="1078992" cy="310896"/>
          </a:xfrm>
          <a:prstGeom prst="roundRect">
            <a:avLst/>
          </a:prstGeom>
          <a:solidFill>
            <a:srgbClr val="FF7A68"/>
          </a:solidFill>
          <a:ln w="12700">
            <a:solidFill>
              <a:srgbClr val="FF7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90B0A"/>
                </a:solidFill>
                <a:latin typeface="Arial"/>
              </a:rPr>
              <a:t>DENIED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0"/>
                </a:solidFill>
                <a:latin typeface="Arial"/>
              </a:rPr>
              <a:t>PURCHASE_PURPOSE_MISMATCH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3630168"/>
            <a:ext cx="4572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9A39A"/>
                </a:solidFill>
                <a:latin typeface="Arial"/>
              </a:rPr>
              <a:t>Same amount, category, and counterparty. Gift-card purpose does not match the research task.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FF7A68"/>
                </a:solidFill>
                <a:latin typeface="Arial"/>
              </a:rPr>
              <a:t>DEMO ORCHESTRATOR DID NOT INVOKE EXECUTOR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5257800"/>
            <a:ext cx="11356848" cy="640080"/>
          </a:xfrm>
          <a:prstGeom prst="rect">
            <a:avLst/>
          </a:prstGeom>
          <a:solidFill>
            <a:srgbClr val="171C18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545896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8FF3F"/>
                </a:solidFill>
                <a:latin typeface="Arial"/>
              </a:rPr>
              <a:t>RPC-VERIFIED HISTORICAL ARC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8064" y="5404104"/>
            <a:ext cx="83393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F4F6F0"/>
                </a:solidFill>
                <a:latin typeface="Consolas"/>
              </a:rPr>
              <a:t>0x24e9595078de0778428eea09af2a10ec53828c10aca6e4c5517ef1dd09144a7a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STACK 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docs.arc.io · developers.circle.com/agent-stack · developers.circle.com/agent-stack/agent-wallets/supported-blockchains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INFRASTRUCTURE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WHY ARC, USDC, AND CIRCLE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3429000" cy="2798064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ARC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PAYMENT-NATIVE 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 purpose-built environment for programmable money. Safe4's exact verifier checks chain, token, calldata, receipt status, and Transfer event.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60320"/>
            <a:ext cx="3429000" cy="2798064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USDC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PRECISE SETTLEMENT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Six-decimal, dollar-denominated testnet evidence makes the demo amount and token contract unambiguous.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60320"/>
            <a:ext cx="3429000" cy="2798064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CIRCLE AGENT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AGENT-NATIVE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Agent Wallets support Arc Testnet. The adapter is coded to attempt Circle execution after ALLOW; authenticated validation is pending.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Circle control descriptions: developers.circle.com/agent-stack/agent-wallets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COMPLEMENTARY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CIRCLE ENFORCES THE FLOOR. SAFE4 ASKS WHETHER THE PAYMENT SHOULD HAPPEN.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11356848" cy="269748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9A39A"/>
                </a:solidFill>
                <a:latin typeface="Arial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77063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CIRCLE AGENT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27706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36391"/>
            <a:ext cx="10771632" cy="0"/>
          </a:xfrm>
          <a:prstGeom prst="line">
            <a:avLst/>
          </a:prstGeom>
          <a:ln w="1270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24612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Spending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246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✓ Native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324612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0"/>
                </a:solidFill>
                <a:latin typeface="Arial"/>
              </a:rPr>
              <a:t>✓ Additional policy context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730752"/>
            <a:ext cx="10771632" cy="0"/>
          </a:xfrm>
          <a:prstGeom prst="line">
            <a:avLst/>
          </a:prstGeom>
          <a:ln w="1270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384048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Address / compliance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384048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✓ Native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384048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0"/>
                </a:solidFill>
                <a:latin typeface="Arial"/>
              </a:rPr>
              <a:t>✓ Counterparty + audit context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4325112"/>
            <a:ext cx="10771632" cy="0"/>
          </a:xfrm>
          <a:prstGeom prst="line">
            <a:avLst/>
          </a:prstGeom>
          <a:ln w="1270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443484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Submitted task ↔ purchase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443484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Documented controls do not evaluate this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3488" y="443484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8FF3F"/>
                </a:solidFill>
                <a:latin typeface="Arial"/>
              </a:rPr>
              <a:t>✓ Outcome-changing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52297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7A68"/>
                </a:solidFill>
                <a:latin typeface="Arial"/>
              </a:rPr>
              <a:t>DEMO MOMENT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5468112"/>
            <a:ext cx="923544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F4F6F0"/>
                </a:solidFill>
                <a:latin typeface="Arial"/>
              </a:rPr>
              <a:t>Same amount, category, counterparty. Denied against submitted task context. Trusted binding is roadmap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Team experience is a human-confirmed submission fact; names intentionally omitted until supplied.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BUILT AT THE INTERSECTION OF CYBERSECURITY AND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41448"/>
            <a:ext cx="28346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0" b="1">
                <a:solidFill>
                  <a:srgbClr val="E8FF3F"/>
                </a:solidFill>
                <a:latin typeface="Arial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822191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COMBINED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41879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A39A"/>
                </a:solidFill>
                <a:latin typeface="Arial"/>
              </a:rPr>
              <a:t>IN REGULATED ENVIRONMENTS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468880"/>
            <a:ext cx="3474720" cy="224028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THREAT-FIRST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Payment controls, attack surfaces, evidence, and operational resilience.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82127" y="2468880"/>
            <a:ext cx="3474720" cy="224028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RISK-AWARE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3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Money movement, governed operations, and decision accountability.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5928" y="513892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9A39A"/>
                </a:solidFill>
                <a:latin typeface="Arial"/>
              </a:rPr>
              <a:t>Founder names and biographies will be added only from confirmed source material.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PROGRESS + ACCELERATOR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Public repo: github.com/Safe4AI/safe4-arc-demo · evidence current at 28 Jul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FROM VERIFIED DEMO TO AGENT-COMMERCE SERVICE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14600"/>
            <a:ext cx="3429000" cy="260604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NOW /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HACKATHON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286-test regression gate. Real Arc Testnet USDC transaction. Unattended allow/deny demo. Public repository.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14600"/>
            <a:ext cx="3429000" cy="260604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NEXT / HARDEN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TRUSTED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Bind tasks to principals, remove legacy bypasses, deepen onchain receipt verification, and rehearse fresh Circle execution.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14600"/>
            <a:ext cx="3429000" cy="260604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AFTER / DISTRIBUTE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AGENT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Package Safe4 as an x402 service, complete security review, and apply for Circle Agent Marketplace listing.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50468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THE ACCELERATOR UNLOCKS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5440680"/>
            <a:ext cx="8732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4F6F0"/>
                </a:solidFill>
                <a:latin typeface="Arial"/>
              </a:rPr>
              <a:t>design partners · hardened integrations · marketplace readiness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