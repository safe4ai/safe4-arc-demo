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ENCODE X ARC · AGENTIC ECONOMY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" y="1069848"/>
            <a:ext cx="2423160" cy="310896"/>
          </a:xfrm>
          <a:prstGeom prst="roundRect">
            <a:avLst/>
          </a:prstGeom>
          <a:solidFill>
            <a:srgbClr val="E8FF3F"/>
          </a:solidFill>
          <a:ln w="12700">
            <a:solidFill>
              <a:srgbClr val="E8F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107899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90B0A"/>
                </a:solidFill>
                <a:latin typeface="Arial"/>
              </a:rPr>
              <a:t>PAYMENT SECURITY / ARC TESTNET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664208"/>
            <a:ext cx="7955279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500" b="1">
                <a:solidFill>
                  <a:srgbClr val="F4F6F0"/>
                </a:solidFill>
                <a:latin typeface="Arial"/>
              </a:rPr>
              <a:t>THE PAYMENT
FIREWALL FOR
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4535424"/>
            <a:ext cx="66751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99A39A"/>
                </a:solidFill>
                <a:latin typeface="Arial"/>
              </a:rPr>
              <a:t>The security layer between an agent deciding to spend—and the money moving.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1188720"/>
            <a:ext cx="2834640" cy="4251960"/>
          </a:xfrm>
          <a:prstGeom prst="rect">
            <a:avLst/>
          </a:prstGeom>
          <a:solidFill>
            <a:srgbClr val="111512"/>
          </a:solidFill>
          <a:ln w="16510">
            <a:solidFill>
              <a:srgbClr val="E8F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51392" y="161848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8FF3F"/>
                </a:solidFill>
                <a:latin typeface="Arial"/>
              </a:rPr>
              <a:t>SAFE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2176272"/>
            <a:ext cx="21031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0" b="1">
                <a:solidFill>
                  <a:srgbClr val="F4F6F0"/>
                </a:solidFill>
                <a:latin typeface="Arial"/>
              </a:rPr>
              <a:t>04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51392" y="3712463"/>
            <a:ext cx="2103120" cy="0"/>
          </a:xfrm>
          <a:prstGeom prst="line">
            <a:avLst/>
          </a:prstGeom>
          <a:ln w="12700">
            <a:solidFill>
              <a:srgbClr val="E8F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851392" y="3968496"/>
            <a:ext cx="210312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9A39A"/>
                </a:solidFill>
                <a:latin typeface="Arial"/>
              </a:rPr>
              <a:t>POLICY
PROOF
PURPOSE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THE SECURITY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THE MISSING CONTROL 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9A39A"/>
                </a:solidFill>
                <a:latin typeface="Arial"/>
              </a:rPr>
              <a:t>Documented wallet controls do not evaluate the task-to-purchase match demonstrated 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743200"/>
            <a:ext cx="3429000" cy="242316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9260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FE8FF"/>
                </a:solidFill>
                <a:latin typeface="Arial"/>
              </a:rPr>
              <a:t>01 /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2735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AGENT CHOOSES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886200"/>
            <a:ext cx="2990088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A model interprets a task, selects a service, and proposes a payment.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0832" y="2743200"/>
            <a:ext cx="3429000" cy="242316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29260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7A68"/>
                </a:solidFill>
                <a:latin typeface="Arial"/>
              </a:rPr>
              <a:t>02 /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2735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CONTEXT DISAPPEARS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3886200"/>
            <a:ext cx="2990088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Amount and address survive. The assigned task, purchase purpose, and autonomy scope often do not.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7" y="2743200"/>
            <a:ext cx="3429000" cy="242316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58784" y="29260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03 / EXECUTION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4" y="32735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MONEY MOVES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58784" y="3886200"/>
            <a:ext cx="2990088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A valid wallet action can still be the wrong action for the job.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840480" y="3959352"/>
            <a:ext cx="512064" cy="0"/>
          </a:xfrm>
          <a:prstGeom prst="line">
            <a:avLst/>
          </a:prstGeom>
          <a:ln w="25400">
            <a:solidFill>
              <a:srgbClr val="7FE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08975" y="3959352"/>
            <a:ext cx="512065" cy="0"/>
          </a:xfrm>
          <a:prstGeom prst="line">
            <a:avLst/>
          </a:prstGeom>
          <a:ln w="25400">
            <a:solidFill>
              <a:srgbClr val="E8F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39312" y="5449824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E8FF3F"/>
                </a:solidFill>
                <a:latin typeface="Arial"/>
              </a:rPr>
              <a:t>SAFE4 INSERTS AN ENFORCEABLE CHECKPOINT HERE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MARKET TIMING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Sources: x402.org · cloud.google.com/blog/products/ai-machine-learning/announcing-agents-to-payments-ap2-protocol · developers.circle.com/agent-stack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MARKET 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WHY 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9A39A"/>
                </a:solidFill>
                <a:latin typeface="Arial"/>
              </a:rPr>
              <a:t>Agent-native payment rails are arriving faster than agent-native security controls.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" y="2834640"/>
            <a:ext cx="3401568" cy="102412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97180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7FE8FF"/>
                </a:solidFill>
                <a:latin typeface="Arial"/>
              </a:rPr>
              <a:t>x402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3456432"/>
            <a:ext cx="29992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HTTP-NATIVE PAYMENT REQUIREMENTS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2834640"/>
            <a:ext cx="3401568" cy="102412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297180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E8FF3F"/>
                </a:solidFill>
                <a:latin typeface="Arial"/>
              </a:rPr>
              <a:t>AP2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456432"/>
            <a:ext cx="29992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MANDATES AND AGENT PAYMENT INTENT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75904" y="2834640"/>
            <a:ext cx="3401568" cy="102412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297180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70F6A5"/>
                </a:solidFill>
                <a:latin typeface="Arial"/>
              </a:rPr>
              <a:t>USDC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7072" y="3456432"/>
            <a:ext cx="29992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PROGRAMMABLE SETTLEMENT ASSET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" y="4224528"/>
            <a:ext cx="11375136" cy="1143000"/>
          </a:xfrm>
          <a:prstGeom prst="rect">
            <a:avLst/>
          </a:prstGeom>
          <a:solidFill>
            <a:srgbClr val="171C18"/>
          </a:solidFill>
          <a:ln w="12700">
            <a:solidFill>
              <a:srgbClr val="E8F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450799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4F6F0"/>
                </a:solidFill>
                <a:latin typeface="Arial"/>
              </a:rPr>
              <a:t>New rails make autonomous commerce possible.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4507992"/>
            <a:ext cx="57790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8FF3F"/>
                </a:solidFill>
                <a:latin typeface="Arial"/>
              </a:rPr>
              <a:t>Safe4 makes the payment decision inspectable before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POLICY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DECISION SURFACE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WHAT SAFE4 EVALUATES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9A39A"/>
                </a:solidFill>
                <a:latin typeface="Arial"/>
              </a:rPr>
              <a:t>One authorization decision, multiple independent checks, one durable reason trail.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606040"/>
            <a:ext cx="3401568" cy="129844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77063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27523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TASK ↔ PURCHASE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31729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9A39A"/>
                </a:solidFill>
                <a:latin typeface="Arial"/>
              </a:rPr>
              <a:t>Does the purpose match the submitted task context?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9663" y="2606040"/>
            <a:ext cx="3401568" cy="129844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277063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0F6A5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27523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AMOUNT + 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31729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9A39A"/>
                </a:solidFill>
                <a:latin typeface="Arial"/>
              </a:rPr>
              <a:t>Is it within transaction, daily, and velocity limits?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36992" y="2606040"/>
            <a:ext cx="3401568" cy="129844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1" y="277063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FE8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523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COUNTERPARTY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1" y="31729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9A39A"/>
                </a:solidFill>
                <a:latin typeface="Arial"/>
              </a:rPr>
              <a:t>Is the vendor or address blocked or otherwise risky?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" y="4206240"/>
            <a:ext cx="3401568" cy="129844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370831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4F6F0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43525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AUTONOMY 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" y="47731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9A39A"/>
                </a:solidFill>
                <a:latin typeface="Arial"/>
              </a:rPr>
              <a:t>Is the agent allowed to make this class of decision?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9663" y="4206240"/>
            <a:ext cx="3401568" cy="129844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52544" y="4370831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6592" y="43525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PAYMENT PROOF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2544" y="47731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9A39A"/>
                </a:solidFill>
                <a:latin typeface="Arial"/>
              </a:rPr>
              <a:t>Does the x402 receipt match amount, currency, and request?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36992" y="4206240"/>
            <a:ext cx="3401568" cy="1298448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19871" y="4370831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0F6A5"/>
                </a:solidFill>
                <a:latin typeface="Arial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19" y="4352544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AUDITABILITY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9871" y="4773168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9A39A"/>
                </a:solidFill>
                <a:latin typeface="Arial"/>
              </a:rPr>
              <a:t>Can the decision and evidence be reconstructed later?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Observed Arc Testnet path: Safe4 ALLOW precedes Circle Agent Wallet execution.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OBSERVED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SAFE4 AUTHORIZATION + CIRCLE AGENT WALLET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" y="210312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9A39A"/>
                </a:solidFill>
                <a:latin typeface="Arial"/>
              </a:rPr>
              <a:t>Fresh 0.01 testnet USDC settlement is RPC-verified through the ERC-4337 receipt.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971800"/>
            <a:ext cx="1755648" cy="118872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9A39A"/>
                </a:solidFill>
                <a:latin typeface="Arial"/>
              </a:rPr>
              <a:t>Task + budget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57984" y="3566160"/>
            <a:ext cx="402336" cy="0"/>
          </a:xfrm>
          <a:prstGeom prst="line">
            <a:avLst/>
          </a:prstGeom>
          <a:ln w="22860">
            <a:solidFill>
              <a:srgbClr val="E8F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596896" y="2971800"/>
            <a:ext cx="1755648" cy="118872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X402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9A39A"/>
                </a:solidFill>
                <a:latin typeface="Arial"/>
              </a:rPr>
              <a:t>Payment required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70831" y="3566160"/>
            <a:ext cx="402337" cy="0"/>
          </a:xfrm>
          <a:prstGeom prst="line">
            <a:avLst/>
          </a:prstGeom>
          <a:ln w="22860">
            <a:solidFill>
              <a:srgbClr val="E8F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809744" y="2971800"/>
            <a:ext cx="1755648" cy="1188720"/>
          </a:xfrm>
          <a:prstGeom prst="rect">
            <a:avLst/>
          </a:prstGeom>
          <a:solidFill>
            <a:srgbClr val="111512"/>
          </a:solidFill>
          <a:ln w="17780">
            <a:solidFill>
              <a:srgbClr val="E8F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SAFE4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9A39A"/>
                </a:solidFill>
                <a:latin typeface="Arial"/>
              </a:rPr>
              <a:t>Policy + purpose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83679" y="3566160"/>
            <a:ext cx="402337" cy="0"/>
          </a:xfrm>
          <a:prstGeom prst="line">
            <a:avLst/>
          </a:prstGeom>
          <a:ln w="22860">
            <a:solidFill>
              <a:srgbClr val="E8F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022592" y="2971800"/>
            <a:ext cx="1755648" cy="118872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68896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68896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CIRCLE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68896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9A39A"/>
                </a:solidFill>
                <a:latin typeface="Arial"/>
              </a:rPr>
              <a:t>Agent Wallet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96528" y="3566160"/>
            <a:ext cx="402335" cy="0"/>
          </a:xfrm>
          <a:prstGeom prst="line">
            <a:avLst/>
          </a:prstGeom>
          <a:ln w="22860">
            <a:solidFill>
              <a:srgbClr val="E8FF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9235440" y="2971800"/>
            <a:ext cx="1755648" cy="118872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81744" y="313639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81744" y="342900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4F6F0"/>
                </a:solidFill>
                <a:latin typeface="Arial"/>
              </a:rPr>
              <a:t>ARC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81744" y="377647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9A39A"/>
                </a:solidFill>
                <a:latin typeface="Arial"/>
              </a:rPr>
              <a:t>USDC settlement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4526280"/>
            <a:ext cx="2240280" cy="676656"/>
          </a:xfrm>
          <a:prstGeom prst="rect">
            <a:avLst/>
          </a:prstGeom>
          <a:solidFill>
            <a:srgbClr val="171C18"/>
          </a:solidFill>
          <a:ln w="12700">
            <a:solidFill>
              <a:srgbClr val="E8F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81728" y="468172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70F6A5"/>
                </a:solidFill>
                <a:latin typeface="Arial"/>
              </a:rPr>
              <a:t>ALLOW → REPLAY VERIFY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14032" y="4526280"/>
            <a:ext cx="2468880" cy="676656"/>
          </a:xfrm>
          <a:prstGeom prst="rect">
            <a:avLst/>
          </a:prstGeom>
          <a:solidFill>
            <a:srgbClr val="171C18"/>
          </a:solidFill>
          <a:ln w="12700">
            <a:solidFill>
              <a:srgbClr val="FF7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68896" y="4681728"/>
            <a:ext cx="23591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" b="1">
                <a:solidFill>
                  <a:srgbClr val="FF7A68"/>
                </a:solidFill>
                <a:latin typeface="Arial"/>
              </a:rPr>
              <a:t>DENY → DEMO EXECUTOR SKIPPED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OBSERVED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Arcscan: testnet.arcscan.app/tx/0x648ef1…7752c · ERC-4337 verifier: scripts/verify_arc_settlement.py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OBSERVED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REAL DEMO. REAL REASONS. REAL CHAIN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487168"/>
            <a:ext cx="5413248" cy="2395728"/>
          </a:xfrm>
          <a:prstGeom prst="rect">
            <a:avLst/>
          </a:prstGeom>
          <a:solidFill>
            <a:srgbClr val="111512"/>
          </a:solidFill>
          <a:ln w="17780">
            <a:solidFill>
              <a:srgbClr val="70F6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724912"/>
            <a:ext cx="1078992" cy="310896"/>
          </a:xfrm>
          <a:prstGeom prst="roundRect">
            <a:avLst/>
          </a:prstGeom>
          <a:solidFill>
            <a:srgbClr val="70F6A5"/>
          </a:solidFill>
          <a:ln w="12700">
            <a:solidFill>
              <a:srgbClr val="70F6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734056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90B0A"/>
                </a:solidFill>
                <a:latin typeface="Arial"/>
              </a:rPr>
              <a:t>ALLOWED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21868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4F6F0"/>
                </a:solidFill>
                <a:latin typeface="Arial"/>
              </a:rPr>
              <a:t>TASK_PURCHASE_MATCH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630168"/>
            <a:ext cx="4617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99A39A"/>
                </a:solidFill>
                <a:latin typeface="Arial"/>
              </a:rPr>
              <a:t>Competitor-pricing research matches the assigned task and allowed category.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370832"/>
            <a:ext cx="46451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70F6A5"/>
                </a:solidFill>
                <a:latin typeface="Arial"/>
              </a:rPr>
              <a:t>HISTORICAL REPLAY · NOT BROADCAST BY DEMO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5936" y="2487168"/>
            <a:ext cx="5413248" cy="2395728"/>
          </a:xfrm>
          <a:prstGeom prst="rect">
            <a:avLst/>
          </a:prstGeom>
          <a:solidFill>
            <a:srgbClr val="111512"/>
          </a:solidFill>
          <a:ln w="17780">
            <a:solidFill>
              <a:srgbClr val="FF7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01968" y="2724912"/>
            <a:ext cx="1078992" cy="310896"/>
          </a:xfrm>
          <a:prstGeom prst="roundRect">
            <a:avLst/>
          </a:prstGeom>
          <a:solidFill>
            <a:srgbClr val="FF7A68"/>
          </a:solidFill>
          <a:ln w="12700">
            <a:solidFill>
              <a:srgbClr val="FF7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2734056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90B0A"/>
                </a:solidFill>
                <a:latin typeface="Arial"/>
              </a:rPr>
              <a:t>DENIED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1968" y="321868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4F6F0"/>
                </a:solidFill>
                <a:latin typeface="Arial"/>
              </a:rPr>
              <a:t>PURCHASE_PURPOSE_MISMATCH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968" y="3630168"/>
            <a:ext cx="45720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99A39A"/>
                </a:solidFill>
                <a:latin typeface="Arial"/>
              </a:rPr>
              <a:t>Same amount, category, and counterparty. Gift-card purpose does not match the research task.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1968" y="4370832"/>
            <a:ext cx="46451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FF7A68"/>
                </a:solidFill>
                <a:latin typeface="Arial"/>
              </a:rPr>
              <a:t>DEMO ORCHESTRATOR DID NOT INVOKE EXECUTOR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" y="5257800"/>
            <a:ext cx="11356848" cy="640080"/>
          </a:xfrm>
          <a:prstGeom prst="rect">
            <a:avLst/>
          </a:prstGeom>
          <a:solidFill>
            <a:srgbClr val="171C18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5458968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E8FF3F"/>
                </a:solidFill>
                <a:latin typeface="Arial"/>
              </a:rPr>
              <a:t>RPC-VERIFIED HISTORICAL ARC 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98064" y="5404104"/>
            <a:ext cx="833932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F4F6F0"/>
                </a:solidFill>
                <a:latin typeface="Consolas"/>
              </a:rPr>
              <a:t>0x648ef14e4da7c6bfecce0017d19280ed51fb12635bea94712de926d9f967752c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STACK RATIONALE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Sources: docs.arc.io · developers.circle.com/agent-stack · developers.circle.com/agent-stack/agent-wallets/supported-blockchains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INFRASTRUCTURE 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WHY ARC, USDC, AND CIRCLE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560320"/>
            <a:ext cx="3429000" cy="2798064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74320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ARC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09067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PAYMENT-NATIVE CHAIN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03320"/>
            <a:ext cx="2990088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A purpose-built environment for programmable money. Safe4's exact verifier checks chain, token, calldata, receipt status, and Transfer event.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9976" y="2560320"/>
            <a:ext cx="3429000" cy="2798064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2" y="274320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0F6A5"/>
                </a:solidFill>
                <a:latin typeface="Arial"/>
              </a:rPr>
              <a:t>USDC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309067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PRECISE SETTLEMENT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3703320"/>
            <a:ext cx="2990088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Six-decimal, dollar-denominated testnet evidence makes the demo amount and token contract unambiguous.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57616" y="2560320"/>
            <a:ext cx="3429000" cy="2798064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274320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FE8FF"/>
                </a:solidFill>
                <a:latin typeface="Arial"/>
              </a:rPr>
              <a:t>CIRCLE AGENT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9067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AGENT-NATIVE EXECUTION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3703320"/>
            <a:ext cx="2990088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An authenticated Agent Wallet settled 0.01 testnet USDC after ALLOW. Safe4 verifies its ERC-4337 receipt.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DIFFERENTIATION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Circle control descriptions: developers.circle.com/agent-stack/agent-wallets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COMPLEMENTARY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CIRCLE ENFORCES THE FLOOR. SAFE4 ASKS WHETHER THE PAYMENT SHOULD HAPPEN.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560320"/>
            <a:ext cx="11356848" cy="269748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77063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9A39A"/>
                </a:solidFill>
                <a:latin typeface="Arial"/>
              </a:rP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2770632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FE8FF"/>
                </a:solidFill>
                <a:latin typeface="Arial"/>
              </a:rPr>
              <a:t>CIRCLE AGENT WALLET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3488" y="277063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136391"/>
            <a:ext cx="10771632" cy="0"/>
          </a:xfrm>
          <a:prstGeom prst="line">
            <a:avLst/>
          </a:prstGeom>
          <a:ln w="1270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246120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4F6F0"/>
                </a:solidFill>
                <a:latin typeface="Arial"/>
              </a:rPr>
              <a:t>Spending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324612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✓ Native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324612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6F0"/>
                </a:solidFill>
                <a:latin typeface="Arial"/>
              </a:rPr>
              <a:t>✓ Additional policy context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3730752"/>
            <a:ext cx="10771632" cy="0"/>
          </a:xfrm>
          <a:prstGeom prst="line">
            <a:avLst/>
          </a:prstGeom>
          <a:ln w="1270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3840480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4F6F0"/>
                </a:solidFill>
                <a:latin typeface="Arial"/>
              </a:rPr>
              <a:t>Address / compliance checks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384048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✓ Native guardrails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384048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6F0"/>
                </a:solidFill>
                <a:latin typeface="Arial"/>
              </a:rPr>
              <a:t>✓ Counterparty + audit context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4325112"/>
            <a:ext cx="10771632" cy="0"/>
          </a:xfrm>
          <a:prstGeom prst="line">
            <a:avLst/>
          </a:prstGeom>
          <a:ln w="1270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4434840"/>
            <a:ext cx="2423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4F6F0"/>
                </a:solidFill>
                <a:latin typeface="Arial"/>
              </a:rPr>
              <a:t>Submitted task ↔ purchase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1568" y="443484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Documented controls do not evaluate this 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33488" y="443484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8FF3F"/>
                </a:solidFill>
                <a:latin typeface="Arial"/>
              </a:rPr>
              <a:t>✓ Outcome-changing decision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522976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7A68"/>
                </a:solidFill>
                <a:latin typeface="Arial"/>
              </a:rPr>
              <a:t>DEMO MOMENT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75104" y="5468112"/>
            <a:ext cx="923544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>
                <a:solidFill>
                  <a:srgbClr val="F4F6F0"/>
                </a:solidFill>
                <a:latin typeface="Arial"/>
              </a:rPr>
              <a:t>Same amount, category, counterparty. Denied against submitted task context. Trusted binding is roadmap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Team experience is a human-confirmed submission fact; names intentionally omitted until supplied.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BUILT AT THE INTERSECTION OF CYBERSECURITY AND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441448"/>
            <a:ext cx="283464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0" b="1">
                <a:solidFill>
                  <a:srgbClr val="E8FF3F"/>
                </a:solidFill>
                <a:latin typeface="Arial"/>
              </a:rPr>
              <a:t>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3822191"/>
            <a:ext cx="28346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4F6F0"/>
                </a:solidFill>
                <a:latin typeface="Arial"/>
              </a:rPr>
              <a:t>COMBINED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" y="418795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9A39A"/>
                </a:solidFill>
                <a:latin typeface="Arial"/>
              </a:rPr>
              <a:t>IN REGULATED ENVIRONMENTS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39" y="2468880"/>
            <a:ext cx="3474720" cy="224028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97096" y="265176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7096" y="2999232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THREAT-FIRST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7096" y="3611880"/>
            <a:ext cx="3035808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Payment controls, attack surfaces, evidence, and operational resilience.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82127" y="2468880"/>
            <a:ext cx="3474720" cy="224028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265176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0F6A5"/>
                </a:solidFill>
                <a:latin typeface="Arial"/>
              </a:rPr>
              <a:t>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1583" y="2999232"/>
            <a:ext cx="30358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RISK-AWARE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1583" y="3611880"/>
            <a:ext cx="3035808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Money movement, governed operations, and decision accountability.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95928" y="5138928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9A39A"/>
                </a:solidFill>
                <a:latin typeface="Arial"/>
              </a:rPr>
              <a:t>Founder names and biographies will be added only from confirmed source material.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2004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16052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100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41480" y="137160"/>
            <a:ext cx="0" cy="6400800"/>
          </a:xfrm>
          <a:prstGeom prst="line">
            <a:avLst/>
          </a:prstGeom>
          <a:ln w="6350">
            <a:solidFill>
              <a:srgbClr val="151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0040" y="77724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" y="6309360"/>
            <a:ext cx="11521440" cy="0"/>
          </a:xfrm>
          <a:prstGeom prst="line">
            <a:avLst/>
          </a:prstGeom>
          <a:ln w="10160">
            <a:solidFill>
              <a:srgbClr val="313A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84048" y="237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FF3F"/>
                </a:solidFill>
                <a:latin typeface="Arial"/>
              </a:rPr>
              <a:t>SAFE4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A39A"/>
                </a:solidFill>
                <a:latin typeface="Arial"/>
              </a:rPr>
              <a:t>PROGRESS + ACCELERATOR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201168"/>
            <a:ext cx="566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F4F6F0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446520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697169"/>
                </a:solidFill>
                <a:latin typeface="Arial"/>
              </a:rPr>
              <a:t>Public repo: github.com/Safe4AI/safe4-arc-demo · evidence current at 28 Jul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969264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8FF3F"/>
                </a:solidFill>
                <a:latin typeface="Arial"/>
              </a:rPr>
              <a:t>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261872"/>
            <a:ext cx="109728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4F6F0"/>
                </a:solidFill>
                <a:latin typeface="Arial"/>
              </a:rPr>
              <a:t>FROM VERIFIED DEMO TO AGENT-COMMERCE SERVICE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514600"/>
            <a:ext cx="3429000" cy="260604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6974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0F6A5"/>
                </a:solidFill>
                <a:latin typeface="Arial"/>
              </a:rPr>
              <a:t>NOW / 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0449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HACKATHON 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2990088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293-test regression gate. Fresh Circle Agent Wallet settlement on Arc. Unattended allow/deny demo. Public repository.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9976" y="2514600"/>
            <a:ext cx="3429000" cy="260604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2" y="26974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NEXT / HARDEN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30449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TRUSTED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3657600"/>
            <a:ext cx="2990088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Bind tasks to principals, remove legacy bypasses, harden the x402 verifier boundary, and complete security review.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57616" y="2514600"/>
            <a:ext cx="3429000" cy="2606040"/>
          </a:xfrm>
          <a:prstGeom prst="rect">
            <a:avLst/>
          </a:prstGeom>
          <a:solidFill>
            <a:srgbClr val="111512"/>
          </a:solidFill>
          <a:ln w="12700">
            <a:solidFill>
              <a:srgbClr val="31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2697480"/>
            <a:ext cx="2990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7FE8FF"/>
                </a:solidFill>
                <a:latin typeface="Arial"/>
              </a:rPr>
              <a:t>AFTER / DISTRIBUTE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44952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4F6F0"/>
                </a:solidFill>
                <a:latin typeface="Arial"/>
              </a:rPr>
              <a:t>AGENT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3657600"/>
            <a:ext cx="2990088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9A39A"/>
                </a:solidFill>
                <a:latin typeface="Arial"/>
              </a:rPr>
              <a:t>Package Safe4 as an x402 service, complete security review, and apply for Circle Agent Marketplace listing.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5504688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8FF3F"/>
                </a:solidFill>
                <a:latin typeface="Arial"/>
              </a:rPr>
              <a:t>THE ACCELERATOR UNLOCKS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78608" y="5440680"/>
            <a:ext cx="8732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4F6F0"/>
                </a:solidFill>
                <a:latin typeface="Arial"/>
              </a:rPr>
              <a:t>design partners · hardened integrations · marketplace readiness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