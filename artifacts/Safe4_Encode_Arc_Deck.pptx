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2004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416052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00100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84148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20040" y="777240"/>
            <a:ext cx="1152144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" y="6309360"/>
            <a:ext cx="1152144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84048" y="2377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8A5A00"/>
                </a:solidFill>
                <a:latin typeface="Arial"/>
              </a:rPr>
              <a:t>SAFE4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774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B5563"/>
                </a:solidFill>
                <a:latin typeface="Arial"/>
              </a:rPr>
              <a:t>ENCODE X ARC · AGENTIC ECONOMY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201168"/>
            <a:ext cx="566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111827"/>
                </a:solidFill>
                <a:latin typeface="Arial"/>
              </a:rPr>
              <a:t>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2336" y="1069848"/>
            <a:ext cx="2423160" cy="310896"/>
          </a:xfrm>
          <a:prstGeom prst="roundRect">
            <a:avLst/>
          </a:prstGeom>
          <a:solidFill>
            <a:srgbClr val="8A5A00"/>
          </a:solidFill>
          <a:ln w="12700">
            <a:solidFill>
              <a:srgbClr val="8A5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" y="1078992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PAYMENT SECURITY / ARC TESTNET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664208"/>
            <a:ext cx="7955279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500" b="1">
                <a:solidFill>
                  <a:srgbClr val="111827"/>
                </a:solidFill>
                <a:latin typeface="Arial"/>
              </a:rPr>
              <a:t>THE PAYMENT
FIREWALL FOR
AI 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" y="4535424"/>
            <a:ext cx="66751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4B5563"/>
                </a:solidFill>
                <a:latin typeface="Arial"/>
              </a:rPr>
              <a:t>The security layer between an agent deciding to spend—and the money moving.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03920" y="1188720"/>
            <a:ext cx="2834640" cy="4251960"/>
          </a:xfrm>
          <a:prstGeom prst="rect">
            <a:avLst/>
          </a:prstGeom>
          <a:solidFill>
            <a:srgbClr val="F3F4F6"/>
          </a:solidFill>
          <a:ln w="16510">
            <a:solidFill>
              <a:srgbClr val="8A5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51392" y="1618488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8A5A00"/>
                </a:solidFill>
                <a:latin typeface="Arial"/>
              </a:rPr>
              <a:t>SAFE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2176272"/>
            <a:ext cx="210312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0" b="1">
                <a:solidFill>
                  <a:srgbClr val="111827"/>
                </a:solidFill>
                <a:latin typeface="Arial"/>
              </a:rPr>
              <a:t>04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851392" y="3712463"/>
            <a:ext cx="2103120" cy="0"/>
          </a:xfrm>
          <a:prstGeom prst="line">
            <a:avLst/>
          </a:prstGeom>
          <a:ln w="12700">
            <a:solidFill>
              <a:srgbClr val="8A5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851392" y="3968496"/>
            <a:ext cx="2103120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B5563"/>
                </a:solidFill>
                <a:latin typeface="Arial"/>
              </a:rPr>
              <a:t>POLICY
PROOF
PURPOSE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2004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416052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00100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84148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20040" y="777240"/>
            <a:ext cx="1152144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" y="6309360"/>
            <a:ext cx="1152144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84048" y="2377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8A5A00"/>
                </a:solidFill>
                <a:latin typeface="Arial"/>
              </a:rPr>
              <a:t>SAFE4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774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B5563"/>
                </a:solidFill>
                <a:latin typeface="Arial"/>
              </a:rPr>
              <a:t>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201168"/>
            <a:ext cx="566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111827"/>
                </a:solidFill>
                <a:latin typeface="Arial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969264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8A5A00"/>
                </a:solidFill>
                <a:latin typeface="Arial"/>
              </a:rPr>
              <a:t>THE SECURITY GAP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1261872"/>
            <a:ext cx="109728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111827"/>
                </a:solidFill>
                <a:latin typeface="Arial"/>
              </a:rPr>
              <a:t>THE MISSING CONTROL POINT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" y="210312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B5563"/>
                </a:solidFill>
                <a:latin typeface="Arial"/>
              </a:rPr>
              <a:t>Documented wallet controls do not evaluate the task-to-purchase match demonstrated here.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2743200"/>
            <a:ext cx="3429000" cy="2423160"/>
          </a:xfrm>
          <a:prstGeom prst="rect">
            <a:avLst/>
          </a:prstGeom>
          <a:solidFill>
            <a:srgbClr val="F3F4F6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2926080"/>
            <a:ext cx="29900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75985"/>
                </a:solidFill>
                <a:latin typeface="Arial"/>
              </a:rPr>
              <a:t>01 / DECISION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273552"/>
            <a:ext cx="29900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111827"/>
                </a:solidFill>
                <a:latin typeface="Arial"/>
              </a:rPr>
              <a:t>AGENT CHOOSES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3886200"/>
            <a:ext cx="2990088" cy="1069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B5563"/>
                </a:solidFill>
                <a:latin typeface="Arial"/>
              </a:rPr>
              <a:t>A model interprets a task, selects a service, and proposes a payment.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70832" y="2743200"/>
            <a:ext cx="3429000" cy="2423160"/>
          </a:xfrm>
          <a:prstGeom prst="rect">
            <a:avLst/>
          </a:prstGeom>
          <a:solidFill>
            <a:srgbClr val="F3F4F6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90288" y="2926080"/>
            <a:ext cx="29900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B91C1C"/>
                </a:solidFill>
                <a:latin typeface="Arial"/>
              </a:rPr>
              <a:t>02 / GAP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3273552"/>
            <a:ext cx="29900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111827"/>
                </a:solidFill>
                <a:latin typeface="Arial"/>
              </a:rPr>
              <a:t>CONTEXT DISAPPEARS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0288" y="3886200"/>
            <a:ext cx="2990088" cy="1069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B5563"/>
                </a:solidFill>
                <a:latin typeface="Arial"/>
              </a:rPr>
              <a:t>Amount and address survive. The assigned task, purchase purpose, and autonomy scope often do not.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39327" y="2743200"/>
            <a:ext cx="3429000" cy="2423160"/>
          </a:xfrm>
          <a:prstGeom prst="rect">
            <a:avLst/>
          </a:prstGeom>
          <a:solidFill>
            <a:srgbClr val="F3F4F6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58784" y="2926080"/>
            <a:ext cx="29900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8A5A00"/>
                </a:solidFill>
                <a:latin typeface="Arial"/>
              </a:rPr>
              <a:t>03 / EXECUTION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58784" y="3273552"/>
            <a:ext cx="29900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111827"/>
                </a:solidFill>
                <a:latin typeface="Arial"/>
              </a:rPr>
              <a:t>MONEY MOVES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58784" y="3886200"/>
            <a:ext cx="2990088" cy="1069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B5563"/>
                </a:solidFill>
                <a:latin typeface="Arial"/>
              </a:rPr>
              <a:t>A valid wallet action can still be the wrong action for the job.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840480" y="3959352"/>
            <a:ext cx="512064" cy="0"/>
          </a:xfrm>
          <a:prstGeom prst="line">
            <a:avLst/>
          </a:prstGeom>
          <a:ln w="25400">
            <a:solidFill>
              <a:srgbClr val="0759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808975" y="3959352"/>
            <a:ext cx="512065" cy="0"/>
          </a:xfrm>
          <a:prstGeom prst="line">
            <a:avLst/>
          </a:prstGeom>
          <a:ln w="25400">
            <a:solidFill>
              <a:srgbClr val="8A5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639312" y="5449824"/>
            <a:ext cx="5029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8A5A00"/>
                </a:solidFill>
                <a:latin typeface="Arial"/>
              </a:rPr>
              <a:t>SAFE4 INSERTS AN ENFORCEABLE CHECKPOINT HERE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2004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416052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00100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84148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20040" y="777240"/>
            <a:ext cx="1152144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" y="6309360"/>
            <a:ext cx="1152144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84048" y="2377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8A5A00"/>
                </a:solidFill>
                <a:latin typeface="Arial"/>
              </a:rPr>
              <a:t>SAFE4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774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B5563"/>
                </a:solidFill>
                <a:latin typeface="Arial"/>
              </a:rPr>
              <a:t>MARKET TIMING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201168"/>
            <a:ext cx="566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111827"/>
                </a:solidFill>
                <a:latin typeface="Arial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6446520"/>
            <a:ext cx="10881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697169"/>
                </a:solidFill>
                <a:latin typeface="Arial"/>
              </a:rPr>
              <a:t>Sources: x402.org · cloud.google.com/blog/products/ai-machine-learning/announcing-agents-to-payments-ap2-protocol · developers.circle.com/agent-stack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969264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8A5A00"/>
                </a:solidFill>
                <a:latin typeface="Arial"/>
              </a:rPr>
              <a:t>MARKET SHIFT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1261872"/>
            <a:ext cx="109728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111827"/>
                </a:solidFill>
                <a:latin typeface="Arial"/>
              </a:rPr>
              <a:t>WHY NOW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" y="210312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B5563"/>
                </a:solidFill>
                <a:latin typeface="Arial"/>
              </a:rPr>
              <a:t>Agent-native payment rails are arriving faster than agent-native security controls.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" y="2834640"/>
            <a:ext cx="3401568" cy="1024128"/>
          </a:xfrm>
          <a:prstGeom prst="rect">
            <a:avLst/>
          </a:prstGeom>
          <a:solidFill>
            <a:srgbClr val="F3F4F6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" y="2971800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75985"/>
                </a:solidFill>
                <a:latin typeface="Arial"/>
              </a:rPr>
              <a:t>x402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" y="3456432"/>
            <a:ext cx="299923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B5563"/>
                </a:solidFill>
                <a:latin typeface="Arial"/>
              </a:rPr>
              <a:t>HTTP-NATIVE PAYMENT REQUIREMENTS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0" y="2834640"/>
            <a:ext cx="3401568" cy="1024128"/>
          </a:xfrm>
          <a:prstGeom prst="rect">
            <a:avLst/>
          </a:prstGeom>
          <a:solidFill>
            <a:srgbClr val="F3F4F6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90288" y="2971800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8A5A00"/>
                </a:solidFill>
                <a:latin typeface="Arial"/>
              </a:rPr>
              <a:t>AP2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3456432"/>
            <a:ext cx="299923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B5563"/>
                </a:solidFill>
                <a:latin typeface="Arial"/>
              </a:rPr>
              <a:t>MANDATES AND AGENT PAYMENT INTENT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75904" y="2834640"/>
            <a:ext cx="3401568" cy="1024128"/>
          </a:xfrm>
          <a:prstGeom prst="rect">
            <a:avLst/>
          </a:prstGeom>
          <a:solidFill>
            <a:srgbClr val="F3F4F6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77072" y="2971800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47857"/>
                </a:solidFill>
                <a:latin typeface="Arial"/>
              </a:rPr>
              <a:t>USDC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77072" y="3456432"/>
            <a:ext cx="299923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B5563"/>
                </a:solidFill>
                <a:latin typeface="Arial"/>
              </a:rPr>
              <a:t>PROGRAMMABLE SETTLEMENT ASSET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2336" y="4224528"/>
            <a:ext cx="11375136" cy="1143000"/>
          </a:xfrm>
          <a:prstGeom prst="rect">
            <a:avLst/>
          </a:prstGeom>
          <a:solidFill>
            <a:srgbClr val="E5E7EB"/>
          </a:solidFill>
          <a:ln w="12700">
            <a:solidFill>
              <a:srgbClr val="8A5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" y="450799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rial"/>
              </a:rPr>
              <a:t>New rails make autonomous commerce possible.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0" y="4507992"/>
            <a:ext cx="57790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8A5A00"/>
                </a:solidFill>
                <a:latin typeface="Arial"/>
              </a:rPr>
              <a:t>Safe4 makes the payment decision inspectable before execution.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2004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416052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00100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84148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20040" y="777240"/>
            <a:ext cx="1152144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" y="6309360"/>
            <a:ext cx="1152144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84048" y="2377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8A5A00"/>
                </a:solidFill>
                <a:latin typeface="Arial"/>
              </a:rPr>
              <a:t>SAFE4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774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B5563"/>
                </a:solidFill>
                <a:latin typeface="Arial"/>
              </a:rPr>
              <a:t>POLICY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201168"/>
            <a:ext cx="566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111827"/>
                </a:solidFill>
                <a:latin typeface="Arial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969264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8A5A00"/>
                </a:solidFill>
                <a:latin typeface="Arial"/>
              </a:rPr>
              <a:t>DECISION SURFACE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1261872"/>
            <a:ext cx="109728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111827"/>
                </a:solidFill>
                <a:latin typeface="Arial"/>
              </a:rPr>
              <a:t>WHAT SAFE4 EVALUATES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" y="210312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B5563"/>
                </a:solidFill>
                <a:latin typeface="Arial"/>
              </a:rPr>
              <a:t>One authorization decision, multiple independent checks, one durable reason trail.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2606040"/>
            <a:ext cx="3401568" cy="1298448"/>
          </a:xfrm>
          <a:prstGeom prst="rect">
            <a:avLst/>
          </a:prstGeom>
          <a:solidFill>
            <a:srgbClr val="F3F4F6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2770632"/>
            <a:ext cx="3474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8A5A00"/>
                </a:solidFill>
                <a:latin typeface="Arial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2752344"/>
            <a:ext cx="2578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Arial"/>
              </a:rPr>
              <a:t>TASK ↔ PURCHASE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" y="3172968"/>
            <a:ext cx="30175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B5563"/>
                </a:solidFill>
                <a:latin typeface="Arial"/>
              </a:rPr>
              <a:t>Does the purpose match the submitted task context?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9663" y="2606040"/>
            <a:ext cx="3401568" cy="1298448"/>
          </a:xfrm>
          <a:prstGeom prst="rect">
            <a:avLst/>
          </a:prstGeom>
          <a:solidFill>
            <a:srgbClr val="F3F4F6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52544" y="2770632"/>
            <a:ext cx="3474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47857"/>
                </a:solidFill>
                <a:latin typeface="Arial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6592" y="2752344"/>
            <a:ext cx="2578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Arial"/>
              </a:rPr>
              <a:t>AMOUNT + BUDGET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52544" y="3172968"/>
            <a:ext cx="30175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B5563"/>
                </a:solidFill>
                <a:latin typeface="Arial"/>
              </a:rPr>
              <a:t>Is it within transaction, daily, and velocity limits?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36992" y="2606040"/>
            <a:ext cx="3401568" cy="1298448"/>
          </a:xfrm>
          <a:prstGeom prst="rect">
            <a:avLst/>
          </a:prstGeom>
          <a:solidFill>
            <a:srgbClr val="F3F4F6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1" y="2770632"/>
            <a:ext cx="3474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75985"/>
                </a:solidFill>
                <a:latin typeface="Arial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2752344"/>
            <a:ext cx="2578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Arial"/>
              </a:rPr>
              <a:t>COUNTERPARTY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1" y="3172968"/>
            <a:ext cx="30175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B5563"/>
                </a:solidFill>
                <a:latin typeface="Arial"/>
              </a:rPr>
              <a:t>Is the vendor or address blocked or otherwise risky?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36" y="4206240"/>
            <a:ext cx="3401568" cy="1298448"/>
          </a:xfrm>
          <a:prstGeom prst="rect">
            <a:avLst/>
          </a:prstGeom>
          <a:solidFill>
            <a:srgbClr val="F3F4F6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5216" y="4370831"/>
            <a:ext cx="3474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11827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" y="4352544"/>
            <a:ext cx="2578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Arial"/>
              </a:rPr>
              <a:t>AUTONOMY SCOPE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" y="4773168"/>
            <a:ext cx="30175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B5563"/>
                </a:solidFill>
                <a:latin typeface="Arial"/>
              </a:rPr>
              <a:t>Is the agent allowed to make this class of decision?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69663" y="4206240"/>
            <a:ext cx="3401568" cy="1298448"/>
          </a:xfrm>
          <a:prstGeom prst="rect">
            <a:avLst/>
          </a:prstGeom>
          <a:solidFill>
            <a:srgbClr val="F3F4F6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52544" y="4370831"/>
            <a:ext cx="3474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8A5A00"/>
                </a:solidFill>
                <a:latin typeface="Arial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36592" y="4352544"/>
            <a:ext cx="2578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Arial"/>
              </a:rPr>
              <a:t>PAYMENT PROOF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52544" y="4773168"/>
            <a:ext cx="30175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B5563"/>
                </a:solidFill>
                <a:latin typeface="Arial"/>
              </a:rPr>
              <a:t>Does the x402 receipt match amount, currency, and request?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36992" y="4206240"/>
            <a:ext cx="3401568" cy="1298448"/>
          </a:xfrm>
          <a:prstGeom prst="rect">
            <a:avLst/>
          </a:prstGeom>
          <a:solidFill>
            <a:srgbClr val="F3F4F6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19871" y="4370831"/>
            <a:ext cx="3474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47857"/>
                </a:solidFill>
                <a:latin typeface="Arial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19" y="4352544"/>
            <a:ext cx="2578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Arial"/>
              </a:rPr>
              <a:t>AUDITABILITY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19871" y="4773168"/>
            <a:ext cx="30175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B5563"/>
                </a:solidFill>
                <a:latin typeface="Arial"/>
              </a:rPr>
              <a:t>Can the decision and evidence be reconstructed later?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2004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416052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00100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84148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20040" y="777240"/>
            <a:ext cx="1152144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" y="6309360"/>
            <a:ext cx="1152144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84048" y="2377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8A5A00"/>
                </a:solidFill>
                <a:latin typeface="Arial"/>
              </a:rPr>
              <a:t>SAFE4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774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B5563"/>
                </a:solidFill>
                <a:latin typeface="Arial"/>
              </a:rPr>
              <a:t>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201168"/>
            <a:ext cx="566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111827"/>
                </a:solidFill>
                <a:latin typeface="Arial"/>
              </a:rPr>
              <a:t>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6446520"/>
            <a:ext cx="10881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697169"/>
                </a:solidFill>
                <a:latin typeface="Arial"/>
              </a:rPr>
              <a:t>Observed Arc Testnet path: Safe4 ALLOW precedes Circle Agent Wallet execution.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969264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8A5A00"/>
                </a:solidFill>
                <a:latin typeface="Arial"/>
              </a:rPr>
              <a:t>OBSERVED PATH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1261872"/>
            <a:ext cx="109728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111827"/>
                </a:solidFill>
                <a:latin typeface="Arial"/>
              </a:rPr>
              <a:t>SAFE4 AUTHORIZATION + CIRCLE AGENT WALLET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" y="210312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B5563"/>
                </a:solidFill>
                <a:latin typeface="Arial"/>
              </a:rPr>
              <a:t>Fresh 0.01 testnet USDC settlement is RPC-verified through the ERC-4337 receipt.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2971800"/>
            <a:ext cx="1755648" cy="1188720"/>
          </a:xfrm>
          <a:prstGeom prst="rect">
            <a:avLst/>
          </a:prstGeom>
          <a:solidFill>
            <a:srgbClr val="F3F4F6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136392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8A5A00"/>
                </a:solidFill>
                <a:latin typeface="Arial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429000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Arial"/>
              </a:rPr>
              <a:t>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776472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4B5563"/>
                </a:solidFill>
                <a:latin typeface="Arial"/>
              </a:rPr>
              <a:t>Task + budget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157984" y="3566160"/>
            <a:ext cx="402336" cy="0"/>
          </a:xfrm>
          <a:prstGeom prst="line">
            <a:avLst/>
          </a:prstGeom>
          <a:ln w="22860">
            <a:solidFill>
              <a:srgbClr val="8A5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2596896" y="2971800"/>
            <a:ext cx="1755648" cy="1188720"/>
          </a:xfrm>
          <a:prstGeom prst="rect">
            <a:avLst/>
          </a:prstGeom>
          <a:solidFill>
            <a:srgbClr val="F3F4F6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0" y="3136392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8A5A00"/>
                </a:solidFill>
                <a:latin typeface="Arial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3429000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Arial"/>
              </a:rPr>
              <a:t>SAFE4 402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3776472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4B5563"/>
                </a:solidFill>
                <a:latin typeface="Arial"/>
              </a:rPr>
              <a:t>Scaffolded challenge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370831" y="3566160"/>
            <a:ext cx="402337" cy="0"/>
          </a:xfrm>
          <a:prstGeom prst="line">
            <a:avLst/>
          </a:prstGeom>
          <a:ln w="22860">
            <a:solidFill>
              <a:srgbClr val="8A5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4809744" y="2971800"/>
            <a:ext cx="1755648" cy="1188720"/>
          </a:xfrm>
          <a:prstGeom prst="rect">
            <a:avLst/>
          </a:prstGeom>
          <a:solidFill>
            <a:srgbClr val="F3F4F6"/>
          </a:solidFill>
          <a:ln w="17780">
            <a:solidFill>
              <a:srgbClr val="8A5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3136392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8A5A00"/>
                </a:solidFill>
                <a:latin typeface="Arial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56048" y="3429000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Arial"/>
              </a:rPr>
              <a:t>SAFE4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56048" y="3776472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4B5563"/>
                </a:solidFill>
                <a:latin typeface="Arial"/>
              </a:rPr>
              <a:t>Policy + purpose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583679" y="3566160"/>
            <a:ext cx="402337" cy="0"/>
          </a:xfrm>
          <a:prstGeom prst="line">
            <a:avLst/>
          </a:prstGeom>
          <a:ln w="22860">
            <a:solidFill>
              <a:srgbClr val="8A5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022592" y="2971800"/>
            <a:ext cx="1755648" cy="1188720"/>
          </a:xfrm>
          <a:prstGeom prst="rect">
            <a:avLst/>
          </a:prstGeom>
          <a:solidFill>
            <a:srgbClr val="F3F4F6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68896" y="3136392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8A5A00"/>
                </a:solidFill>
                <a:latin typeface="Arial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68896" y="3429000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Arial"/>
              </a:rPr>
              <a:t>CIRCLE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68896" y="3776472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4B5563"/>
                </a:solidFill>
                <a:latin typeface="Arial"/>
              </a:rPr>
              <a:t>Agent Wallet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796528" y="3566160"/>
            <a:ext cx="402335" cy="0"/>
          </a:xfrm>
          <a:prstGeom prst="line">
            <a:avLst/>
          </a:prstGeom>
          <a:ln w="22860">
            <a:solidFill>
              <a:srgbClr val="8A5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9235440" y="2971800"/>
            <a:ext cx="1755648" cy="1188720"/>
          </a:xfrm>
          <a:prstGeom prst="rect">
            <a:avLst/>
          </a:prstGeom>
          <a:solidFill>
            <a:srgbClr val="F3F4F6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81744" y="3136392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8A5A00"/>
                </a:solidFill>
                <a:latin typeface="Arial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81744" y="3429000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Arial"/>
              </a:rPr>
              <a:t>ARC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81744" y="3776472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4B5563"/>
                </a:solidFill>
                <a:latin typeface="Arial"/>
              </a:rPr>
              <a:t>USDC settlement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0" y="4526280"/>
            <a:ext cx="2240280" cy="676656"/>
          </a:xfrm>
          <a:prstGeom prst="rect">
            <a:avLst/>
          </a:prstGeom>
          <a:solidFill>
            <a:srgbClr val="E5E7EB"/>
          </a:solidFill>
          <a:ln w="12700">
            <a:solidFill>
              <a:srgbClr val="8A5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681728" y="4681728"/>
            <a:ext cx="2029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047857"/>
                </a:solidFill>
                <a:latin typeface="Arial"/>
              </a:rPr>
              <a:t>ALLOW → REPLAY VERIFY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114032" y="4526280"/>
            <a:ext cx="2468880" cy="676656"/>
          </a:xfrm>
          <a:prstGeom prst="rect">
            <a:avLst/>
          </a:prstGeom>
          <a:solidFill>
            <a:srgbClr val="E5E7EB"/>
          </a:solidFill>
          <a:ln w="1270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68896" y="4681728"/>
            <a:ext cx="23591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80" b="1">
                <a:solidFill>
                  <a:srgbClr val="B91C1C"/>
                </a:solidFill>
                <a:latin typeface="Arial"/>
              </a:rPr>
              <a:t>DENY → DEMO EXECUTOR SKIPPED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2004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416052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00100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84148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20040" y="777240"/>
            <a:ext cx="1152144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" y="6309360"/>
            <a:ext cx="1152144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84048" y="2377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8A5A00"/>
                </a:solidFill>
                <a:latin typeface="Arial"/>
              </a:rPr>
              <a:t>SAFE4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774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B5563"/>
                </a:solidFill>
                <a:latin typeface="Arial"/>
              </a:rPr>
              <a:t>OBSERVED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201168"/>
            <a:ext cx="566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111827"/>
                </a:solidFill>
                <a:latin typeface="Arial"/>
              </a:rPr>
              <a:t>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6446520"/>
            <a:ext cx="10881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697169"/>
                </a:solidFill>
                <a:latin typeface="Arial"/>
              </a:rPr>
              <a:t>Arcscan: testnet.arcscan.app/tx/0xf9d665…e775d · ERC-4337 verifier: scripts/verify_arc_settlement.py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969264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8A5A00"/>
                </a:solidFill>
                <a:latin typeface="Arial"/>
              </a:rPr>
              <a:t>OBSERVED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1261872"/>
            <a:ext cx="109728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111827"/>
                </a:solidFill>
                <a:latin typeface="Arial"/>
              </a:rPr>
              <a:t>REAL DEMO. REAL REASONS. REAL CHAIN EVIDENCE.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2487168"/>
            <a:ext cx="5413248" cy="2395728"/>
          </a:xfrm>
          <a:prstGeom prst="rect">
            <a:avLst/>
          </a:prstGeom>
          <a:solidFill>
            <a:srgbClr val="F3F4F6"/>
          </a:solidFill>
          <a:ln w="1778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2724912"/>
            <a:ext cx="1078992" cy="310896"/>
          </a:xfrm>
          <a:prstGeom prst="roundRect">
            <a:avLst/>
          </a:prstGeom>
          <a:solidFill>
            <a:srgbClr val="047857"/>
          </a:solidFill>
          <a:ln w="1270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734056"/>
            <a:ext cx="107899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ALLOWED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218688"/>
            <a:ext cx="4663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rial"/>
              </a:rPr>
              <a:t>TASK_PURCHASE_MATCH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630168"/>
            <a:ext cx="46177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4B5563"/>
                </a:solidFill>
                <a:latin typeface="Arial"/>
              </a:rPr>
              <a:t>Competitor-pricing research matches the assigned task and allowed category.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370832"/>
            <a:ext cx="46451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1">
                <a:solidFill>
                  <a:srgbClr val="047857"/>
                </a:solidFill>
                <a:latin typeface="Arial"/>
              </a:rPr>
              <a:t>CIRCLE TX · RPC-VERIFIED REPLAY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45936" y="2487168"/>
            <a:ext cx="5413248" cy="2395728"/>
          </a:xfrm>
          <a:prstGeom prst="rect">
            <a:avLst/>
          </a:prstGeom>
          <a:solidFill>
            <a:srgbClr val="F3F4F6"/>
          </a:solidFill>
          <a:ln w="1778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01968" y="2724912"/>
            <a:ext cx="1078992" cy="310896"/>
          </a:xfrm>
          <a:prstGeom prst="roundRect">
            <a:avLst/>
          </a:prstGeom>
          <a:solidFill>
            <a:srgbClr val="B91C1C"/>
          </a:solidFill>
          <a:ln w="1270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1968" y="2734056"/>
            <a:ext cx="107899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DENIED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01968" y="3218688"/>
            <a:ext cx="4663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rial"/>
              </a:rPr>
              <a:t>PURCHASE_PURPOSE_MISMATCH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1968" y="3630168"/>
            <a:ext cx="45720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4B5563"/>
                </a:solidFill>
                <a:latin typeface="Arial"/>
              </a:rPr>
              <a:t>Same amount, category, and counterparty. Gift-card purpose does not match the research task.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01968" y="4370832"/>
            <a:ext cx="46451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1">
                <a:solidFill>
                  <a:srgbClr val="B91C1C"/>
                </a:solidFill>
                <a:latin typeface="Arial"/>
              </a:rPr>
              <a:t>DEMO ORCHESTRATOR DID NOT INVOKE EXECUTOR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36" y="5257800"/>
            <a:ext cx="11356848" cy="640080"/>
          </a:xfrm>
          <a:prstGeom prst="rect">
            <a:avLst/>
          </a:prstGeom>
          <a:solidFill>
            <a:srgbClr val="E5E7EB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" y="5458968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0" b="1">
                <a:solidFill>
                  <a:srgbClr val="8A5A00"/>
                </a:solidFill>
                <a:latin typeface="Arial"/>
              </a:rPr>
              <a:t>RPC-VERIFIED CIRCLE AGENT WALLET TX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98064" y="5404104"/>
            <a:ext cx="833932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111827"/>
                </a:solidFill>
                <a:latin typeface="Consolas"/>
              </a:rPr>
              <a:t>0xf9d665cf0eb663e33703826ca599d526718042781860faeec5e7ad089fde775d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2004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416052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00100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84148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20040" y="777240"/>
            <a:ext cx="1152144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" y="6309360"/>
            <a:ext cx="1152144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84048" y="2377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8A5A00"/>
                </a:solidFill>
                <a:latin typeface="Arial"/>
              </a:rPr>
              <a:t>SAFE4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774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B5563"/>
                </a:solidFill>
                <a:latin typeface="Arial"/>
              </a:rPr>
              <a:t>STACK RATIONALE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201168"/>
            <a:ext cx="566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111827"/>
                </a:solidFill>
                <a:latin typeface="Arial"/>
              </a:rPr>
              <a:t>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6446520"/>
            <a:ext cx="10881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697169"/>
                </a:solidFill>
                <a:latin typeface="Arial"/>
              </a:rPr>
              <a:t>Sources: docs.arc.io · developers.circle.com/agent-stack · developers.circle.com/agent-stack/agent-wallets/supported-blockchains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969264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8A5A00"/>
                </a:solidFill>
                <a:latin typeface="Arial"/>
              </a:rPr>
              <a:t>INFRASTRUCTURE CHOICE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1261872"/>
            <a:ext cx="109728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111827"/>
                </a:solidFill>
                <a:latin typeface="Arial"/>
              </a:rPr>
              <a:t>WHY ARC, USDC, AND CIRCLE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2560320"/>
            <a:ext cx="3429000" cy="2798064"/>
          </a:xfrm>
          <a:prstGeom prst="rect">
            <a:avLst/>
          </a:prstGeom>
          <a:solidFill>
            <a:srgbClr val="F3F4F6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2743200"/>
            <a:ext cx="29900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8A5A00"/>
                </a:solidFill>
                <a:latin typeface="Arial"/>
              </a:rPr>
              <a:t>ARC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090672"/>
            <a:ext cx="29900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111827"/>
                </a:solidFill>
                <a:latin typeface="Arial"/>
              </a:rPr>
              <a:t>TWO EXACT VERIFIER PATHS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3703320"/>
            <a:ext cx="2990088" cy="1444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B5563"/>
                </a:solidFill>
                <a:latin typeface="Arial"/>
              </a:rPr>
              <a:t>Direct ERC-20: token + calldata. Agent Wallet: EntryPoint + successful UserOperation + exact transfer event.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79976" y="2560320"/>
            <a:ext cx="3429000" cy="2798064"/>
          </a:xfrm>
          <a:prstGeom prst="rect">
            <a:avLst/>
          </a:prstGeom>
          <a:solidFill>
            <a:srgbClr val="F3F4F6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99432" y="2743200"/>
            <a:ext cx="29900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47857"/>
                </a:solidFill>
                <a:latin typeface="Arial"/>
              </a:rPr>
              <a:t>USDC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9432" y="3090672"/>
            <a:ext cx="29900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111827"/>
                </a:solidFill>
                <a:latin typeface="Arial"/>
              </a:rPr>
              <a:t>ONE BALANCE, TWO PRECISIONS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9432" y="3703320"/>
            <a:ext cx="2990088" cy="1444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B5563"/>
                </a:solidFill>
                <a:latin typeface="Arial"/>
              </a:rPr>
              <a:t>Arc native RPC values use 18 decimals; the ERC-20 interface uses 6. Safe4 normalizes the exact 0.01 amount.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57616" y="2560320"/>
            <a:ext cx="3429000" cy="2798064"/>
          </a:xfrm>
          <a:prstGeom prst="rect">
            <a:avLst/>
          </a:prstGeom>
          <a:solidFill>
            <a:srgbClr val="F3F4F6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77072" y="2743200"/>
            <a:ext cx="29900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75985"/>
                </a:solidFill>
                <a:latin typeface="Arial"/>
              </a:rPr>
              <a:t>CIRCLE AGENT STACK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7072" y="3090672"/>
            <a:ext cx="29900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111827"/>
                </a:solidFill>
                <a:latin typeface="Arial"/>
              </a:rPr>
              <a:t>AGENT-NATIVE EXECUTION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7072" y="3703320"/>
            <a:ext cx="2990088" cy="1444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B5563"/>
                </a:solidFill>
                <a:latin typeface="Arial"/>
              </a:rPr>
              <a:t>An authenticated Agent Wallet settled 0.01 testnet USDC after ALLOW. Safe4 verifies its ERC-4337 receipt.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2004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416052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00100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84148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20040" y="777240"/>
            <a:ext cx="1152144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" y="6309360"/>
            <a:ext cx="1152144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84048" y="2377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8A5A00"/>
                </a:solidFill>
                <a:latin typeface="Arial"/>
              </a:rPr>
              <a:t>SAFE4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774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B5563"/>
                </a:solidFill>
                <a:latin typeface="Arial"/>
              </a:rPr>
              <a:t>DIFFERENTIATION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201168"/>
            <a:ext cx="566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111827"/>
                </a:solidFill>
                <a:latin typeface="Arial"/>
              </a:rPr>
              <a:t>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6446520"/>
            <a:ext cx="10881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697169"/>
                </a:solidFill>
                <a:latin typeface="Arial"/>
              </a:rPr>
              <a:t>Circle control descriptions: developers.circle.com/agent-stack/agent-wallets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969264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8A5A00"/>
                </a:solidFill>
                <a:latin typeface="Arial"/>
              </a:rPr>
              <a:t>COMPLEMENTARY CONTROLS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1261872"/>
            <a:ext cx="109728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111827"/>
                </a:solidFill>
                <a:latin typeface="Arial"/>
              </a:rPr>
              <a:t>CIRCLE ENFORCES THE FLOOR. SAFE4 ASKS WHETHER THE PAYMENT SHOULD HAPPEN.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2560320"/>
            <a:ext cx="11356848" cy="2697480"/>
          </a:xfrm>
          <a:prstGeom prst="rect">
            <a:avLst/>
          </a:prstGeom>
          <a:solidFill>
            <a:srgbClr val="F3F4F6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770632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4B5563"/>
                </a:solidFill>
                <a:latin typeface="Arial"/>
              </a:rPr>
              <a:t>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1568" y="2770632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75985"/>
                </a:solidFill>
                <a:latin typeface="Arial"/>
              </a:rPr>
              <a:t>CIRCLE AGENT WALLET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33488" y="2770632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8A5A00"/>
                </a:solidFill>
                <a:latin typeface="Arial"/>
              </a:rPr>
              <a:t>SAFE4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3136391"/>
            <a:ext cx="10771632" cy="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3246120"/>
            <a:ext cx="2423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  <a:latin typeface="Arial"/>
              </a:rPr>
              <a:t>Spending limits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1568" y="3246120"/>
            <a:ext cx="31821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B5563"/>
                </a:solidFill>
                <a:latin typeface="Arial"/>
              </a:rPr>
              <a:t>✓ Native control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3488" y="3246120"/>
            <a:ext cx="37490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Arial"/>
              </a:rPr>
              <a:t>✓ Additional policy context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8368" y="3730752"/>
            <a:ext cx="10771632" cy="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58368" y="3840480"/>
            <a:ext cx="2423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  <a:latin typeface="Arial"/>
              </a:rPr>
              <a:t>Address / compliance checks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01568" y="3840480"/>
            <a:ext cx="31821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B5563"/>
                </a:solidFill>
                <a:latin typeface="Arial"/>
              </a:rPr>
              <a:t>✓ Native guardrails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33488" y="3840480"/>
            <a:ext cx="37490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Arial"/>
              </a:rPr>
              <a:t>✓ Counterparty + audit context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58368" y="4325112"/>
            <a:ext cx="10771632" cy="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58368" y="4434840"/>
            <a:ext cx="2423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  <a:latin typeface="Arial"/>
              </a:rPr>
              <a:t>Submitted task ↔ purchase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01568" y="4434840"/>
            <a:ext cx="31821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B5563"/>
                </a:solidFill>
                <a:latin typeface="Arial"/>
              </a:rPr>
              <a:t>Documented controls do not evaluate this match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33488" y="4434840"/>
            <a:ext cx="37490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8A5A00"/>
                </a:solidFill>
                <a:latin typeface="Arial"/>
              </a:rPr>
              <a:t>✓ Outcome-changing decision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5522976"/>
            <a:ext cx="128016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B91C1C"/>
                </a:solidFill>
                <a:latin typeface="Arial"/>
              </a:rPr>
              <a:t>DEMO MOMENT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75104" y="5468112"/>
            <a:ext cx="923544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20" b="1">
                <a:solidFill>
                  <a:srgbClr val="111827"/>
                </a:solidFill>
                <a:latin typeface="Arial"/>
              </a:rPr>
              <a:t>Same amount, category, counterparty. Denied against submitted task context. Trusted binding is roadmap work.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2004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416052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00100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84148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20040" y="777240"/>
            <a:ext cx="1152144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" y="6309360"/>
            <a:ext cx="1152144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84048" y="2377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8A5A00"/>
                </a:solidFill>
                <a:latin typeface="Arial"/>
              </a:rPr>
              <a:t>SAFE4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774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B5563"/>
                </a:solidFill>
                <a:latin typeface="Arial"/>
              </a:rPr>
              <a:t>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201168"/>
            <a:ext cx="566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111827"/>
                </a:solidFill>
                <a:latin typeface="Arial"/>
              </a:rPr>
              <a:t>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6446520"/>
            <a:ext cx="10881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697169"/>
                </a:solidFill>
                <a:latin typeface="Arial"/>
              </a:rPr>
              <a:t>Team experience is a human-confirmed submission fact; names intentionally omitted until supplied.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969264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8A5A00"/>
                </a:solidFill>
                <a:latin typeface="Arial"/>
              </a:rPr>
              <a:t>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1261872"/>
            <a:ext cx="109728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111827"/>
                </a:solidFill>
                <a:latin typeface="Arial"/>
              </a:rPr>
              <a:t>BUILT AT THE INTERSECTION OF CYBERSECURITY AND FINANCE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2441448"/>
            <a:ext cx="283464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0" b="1">
                <a:solidFill>
                  <a:srgbClr val="8A5A00"/>
                </a:solidFill>
                <a:latin typeface="Arial"/>
              </a:rPr>
              <a:t>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" y="3822191"/>
            <a:ext cx="28346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  <a:latin typeface="Arial"/>
              </a:rPr>
              <a:t>COMBINED YEARS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" y="418795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Arial"/>
              </a:rPr>
              <a:t>IN REGULATED ENVIRONMENTS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77639" y="2468880"/>
            <a:ext cx="3474720" cy="2240280"/>
          </a:xfrm>
          <a:prstGeom prst="rect">
            <a:avLst/>
          </a:prstGeom>
          <a:solidFill>
            <a:srgbClr val="F3F4F6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97096" y="2651760"/>
            <a:ext cx="30358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8A5A00"/>
                </a:solidFill>
                <a:latin typeface="Arial"/>
              </a:rPr>
              <a:t>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7096" y="2999232"/>
            <a:ext cx="30358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111827"/>
                </a:solidFill>
                <a:latin typeface="Arial"/>
              </a:rPr>
              <a:t>THREAT-FIRST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7096" y="3611880"/>
            <a:ext cx="3035808" cy="886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B5563"/>
                </a:solidFill>
                <a:latin typeface="Arial"/>
              </a:rPr>
              <a:t>Payment controls, attack surfaces, evidence, and operational resilience.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82127" y="2468880"/>
            <a:ext cx="3474720" cy="2240280"/>
          </a:xfrm>
          <a:prstGeom prst="rect">
            <a:avLst/>
          </a:prstGeom>
          <a:solidFill>
            <a:srgbClr val="F3F4F6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01583" y="2651760"/>
            <a:ext cx="30358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47857"/>
                </a:solidFill>
                <a:latin typeface="Arial"/>
              </a:rPr>
              <a:t>FINANCE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01583" y="2999232"/>
            <a:ext cx="30358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111827"/>
                </a:solidFill>
                <a:latin typeface="Arial"/>
              </a:rPr>
              <a:t>RISK-AWARE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01583" y="3611880"/>
            <a:ext cx="3035808" cy="886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B5563"/>
                </a:solidFill>
                <a:latin typeface="Arial"/>
              </a:rPr>
              <a:t>Money movement, governed operations, and decision accountability.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95928" y="5138928"/>
            <a:ext cx="7223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B5563"/>
                </a:solidFill>
                <a:latin typeface="Arial"/>
              </a:rPr>
              <a:t>Founder names and biographies will be added only from confirmed source material.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2004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416052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00100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84148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20040" y="777240"/>
            <a:ext cx="1152144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" y="6309360"/>
            <a:ext cx="1152144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84048" y="2377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8A5A00"/>
                </a:solidFill>
                <a:latin typeface="Arial"/>
              </a:rPr>
              <a:t>SAFE4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774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B5563"/>
                </a:solidFill>
                <a:latin typeface="Arial"/>
              </a:rPr>
              <a:t>PROGRESS + ACCELERATOR PATH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201168"/>
            <a:ext cx="566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111827"/>
                </a:solidFill>
                <a:latin typeface="Arial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6446520"/>
            <a:ext cx="10881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697169"/>
                </a:solidFill>
                <a:latin typeface="Arial"/>
              </a:rPr>
              <a:t>Public repo: github.com/Safe4AI/safe4-arc-demo · evidence current at 5 Aug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969264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8A5A00"/>
                </a:solidFill>
                <a:latin typeface="Arial"/>
              </a:rPr>
              <a:t>ROADMAP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1261872"/>
            <a:ext cx="109728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111827"/>
                </a:solidFill>
                <a:latin typeface="Arial"/>
              </a:rPr>
              <a:t>FROM VERIFIED DEMO TO AGENT-COMMERCE SERVICE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2514600"/>
            <a:ext cx="3429000" cy="2606040"/>
          </a:xfrm>
          <a:prstGeom prst="rect">
            <a:avLst/>
          </a:prstGeom>
          <a:solidFill>
            <a:srgbClr val="F3F4F6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2697480"/>
            <a:ext cx="29900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47857"/>
                </a:solidFill>
                <a:latin typeface="Arial"/>
              </a:rPr>
              <a:t>NOW / VERIFIED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044952"/>
            <a:ext cx="29900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111827"/>
                </a:solidFill>
                <a:latin typeface="Arial"/>
              </a:rPr>
              <a:t>HACKATHON PROOF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3657600"/>
            <a:ext cx="2990088" cy="1252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B5563"/>
                </a:solidFill>
                <a:latin typeface="Arial"/>
              </a:rPr>
              <a:t>Python 3.13 regression gate. 5 August Circle Agent Wallet settlement on Arc. Unattended allow/deny demo. Public repository.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79976" y="2514600"/>
            <a:ext cx="3429000" cy="2606040"/>
          </a:xfrm>
          <a:prstGeom prst="rect">
            <a:avLst/>
          </a:prstGeom>
          <a:solidFill>
            <a:srgbClr val="F3F4F6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99432" y="2697480"/>
            <a:ext cx="29900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8A5A00"/>
                </a:solidFill>
                <a:latin typeface="Arial"/>
              </a:rPr>
              <a:t>NEXT / HARDEN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9432" y="3044952"/>
            <a:ext cx="29900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111827"/>
                </a:solidFill>
                <a:latin typeface="Arial"/>
              </a:rPr>
              <a:t>TRUSTED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9432" y="3657600"/>
            <a:ext cx="2990088" cy="1252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B5563"/>
                </a:solidFill>
                <a:latin typeface="Arial"/>
              </a:rPr>
              <a:t>Bind tasks to principals, remove legacy bypasses, harden the x402 verifier boundary, and complete security review.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57616" y="2514600"/>
            <a:ext cx="3429000" cy="2606040"/>
          </a:xfrm>
          <a:prstGeom prst="rect">
            <a:avLst/>
          </a:prstGeom>
          <a:solidFill>
            <a:srgbClr val="F3F4F6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77072" y="2697480"/>
            <a:ext cx="29900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75985"/>
                </a:solidFill>
                <a:latin typeface="Arial"/>
              </a:rPr>
              <a:t>AFTER / DISTRIBUTE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7072" y="3044952"/>
            <a:ext cx="29900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111827"/>
                </a:solidFill>
                <a:latin typeface="Arial"/>
              </a:rPr>
              <a:t>AGENT SERVICE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7072" y="3657600"/>
            <a:ext cx="2990088" cy="1252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B5563"/>
                </a:solidFill>
                <a:latin typeface="Arial"/>
              </a:rPr>
              <a:t>Package Safe4 as an x402 service, complete security review, and apply for Circle Agent Marketplace listing.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" y="5504688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8A5A00"/>
                </a:solidFill>
                <a:latin typeface="Arial"/>
              </a:rPr>
              <a:t>THE ACCELERATOR UNLOCKS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78608" y="5440680"/>
            <a:ext cx="8732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11827"/>
                </a:solidFill>
                <a:latin typeface="Arial"/>
              </a:rPr>
              <a:t>design partners · hardened integrations · marketplace readiness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